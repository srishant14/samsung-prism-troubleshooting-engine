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71"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4E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E9A8C-3F50-49F8-A835-316C22A1110D}" type="datetimeFigureOut">
              <a:rPr lang="en-IN" smtClean="0"/>
              <a:t>08-09-2026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343F9-2D09-4642-A3BD-5BF627A067F3}" type="slidenum">
              <a:rPr lang="en-IN" smtClean="0"/>
              <a:t>‹#›</a:t>
            </a:fld>
            <a:endParaRPr lang="en-IN"/>
          </a:p>
        </p:txBody>
      </p:sp>
    </p:spTree>
    <p:extLst>
      <p:ext uri="{BB962C8B-B14F-4D97-AF65-F5344CB8AC3E}">
        <p14:creationId xmlns:p14="http://schemas.microsoft.com/office/powerpoint/2010/main" val="569163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for the 3rd edition of the PRISM Generative AI Hackathon. Replace the SAMSUNG PRISM pill with the official PRISM logo image if you have the asset. Confirm the academic year label (2026-27) before circulating.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FE64-7CE6-4299-B8FE-939866A3E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870CDB-78C3-4602-B35C-A826CBF20916}"/>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585EF81-E96A-4C8D-A4F0-A9DF05C49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FA2448-68BE-42AE-8001-48ECE62DC431}"/>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55120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5E08-CE8A-45BE-8C3E-C04A49CC8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FCCB0C-95AB-4F7A-955D-2DC18750BF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96DA85-2FDE-4136-B9F6-AF0965475E5A}"/>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299B0367-ACE7-48B9-82C8-A7BFD1F98E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9A210-6017-4F71-9E78-B2C329B4A7E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5812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6C5-6752-4963-B842-280808B201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41469-A18C-498E-BACC-28BCBFE904BB}"/>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AED5D3B-1983-426F-A1AE-7470C43BB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35ABB1-45F2-4FEA-BB5A-3B053892DBC7}"/>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02653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AE-F142-401B-A5D1-4A52FF92C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7C9BD1-2876-4C52-83CF-1CBA9D931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E624D8-76A7-478F-ACA3-5749DEFD0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29A939-0957-4E96-B38D-0B2E39D4137F}"/>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C89D44E1-B8BA-490F-B30A-538CC4D48F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84BB79-7CA5-414E-B5B6-6A8E9AEE4A94}"/>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7435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6CE8-8BA4-4FB1-ACAA-E38F8ED7F7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5B6F67-E437-4FE8-851B-B016F33CF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CE7897-2D17-49F8-8762-68F8D5794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AE8E8-43BB-400D-8934-6D6B21D3A5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DB6608-03F3-45EF-80BD-C6E305C07128}"/>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8" name="Footer Placeholder 7">
            <a:extLst>
              <a:ext uri="{FF2B5EF4-FFF2-40B4-BE49-F238E27FC236}">
                <a16:creationId xmlns:a16="http://schemas.microsoft.com/office/drawing/2014/main" id="{E665D75D-3AD4-4D0E-A5BC-9000973FD8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06A546-DC61-467F-A112-3AC0277BB9A8}"/>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7166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8549-E392-4F05-B762-B5370E51C9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059880-A67D-4A24-9138-E937AE75075F}"/>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4" name="Footer Placeholder 3">
            <a:extLst>
              <a:ext uri="{FF2B5EF4-FFF2-40B4-BE49-F238E27FC236}">
                <a16:creationId xmlns:a16="http://schemas.microsoft.com/office/drawing/2014/main" id="{01BF6EC7-BFAB-4137-9343-C66B7829AB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A6B929-B579-4261-8171-35357AE9A33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33729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AFEDF-BA35-4A7C-9388-604C048D57D0}"/>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3" name="Footer Placeholder 2">
            <a:extLst>
              <a:ext uri="{FF2B5EF4-FFF2-40B4-BE49-F238E27FC236}">
                <a16:creationId xmlns:a16="http://schemas.microsoft.com/office/drawing/2014/main" id="{11C80271-5700-43CC-A9BA-B2AAB47B21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A712EA-BE6D-4AE5-B09E-215DE5B0EE9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75907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6235-A416-4C23-BE8E-8FC1CF0EC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A2C36B-7DDF-4371-9F0A-6E5B64554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3FA19A-E15E-47EA-B9B9-5F7FD0AA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84724-CA93-4332-A03F-0909AC5249AD}"/>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E403302F-D853-499A-BB91-3BD5366E67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4AD427-BF9D-4A47-AF08-E4983B90C65A}"/>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404118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B540-7747-44F5-A3A4-69F051F36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7DFA04-BB4C-4DC0-9831-EB32549F5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01BDBD-01E1-44D7-AB93-513FF196A2C4}"/>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D87D7BDB-9CCD-44F3-A4FB-D4BAE589BE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C8D8A-A70C-4D57-8271-DCF5EEFC33AE}"/>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1223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63EB-C66D-4D2D-9928-25D57CFDCD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91A17B-5319-4265-82A2-5D286CFAFD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72F85-7902-4426-947E-3509F7A06CB1}"/>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D08658F-7DA3-40F3-B6FA-CF740F858E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B0DE9-130B-4DA8-9A0C-06A295C9D82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48195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594E2-CBC8-4A0C-A110-E3B5A301CF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FBD2EA-CB7C-4CAB-855D-57F7919104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2348B0-3CBB-41FA-A8EC-5DFC833D7ECD}"/>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1A7E08DA-D399-4DC8-89B1-C4EBC64DC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DA6177-D647-4C5F-BA43-C02A1390F47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814687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634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977FC6-3D78-48A7-A3DB-BFC7C0EA3E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27CDC877-1137-446E-919A-C66E31331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258D39-C9B6-4DA9-9C05-38A0ECD4C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B04A4-2082-4D7E-8466-9BA22C990A78}" type="slidenum">
              <a:rPr lang="en-IN" smtClean="0"/>
              <a:t>‹#›</a:t>
            </a:fld>
            <a:endParaRPr lang="en-IN"/>
          </a:p>
        </p:txBody>
      </p:sp>
    </p:spTree>
    <p:extLst>
      <p:ext uri="{BB962C8B-B14F-4D97-AF65-F5344CB8AC3E}">
        <p14:creationId xmlns:p14="http://schemas.microsoft.com/office/powerpoint/2010/main" val="3279178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sp>
      <p:sp>
        <p:nvSpPr>
          <p:cNvPr id="3" name="Text 1"/>
          <p:cNvSpPr txBox="1"/>
          <p:nvPr/>
        </p:nvSpPr>
        <p:spPr>
          <a:xfrm>
            <a:off x="777240" y="676656"/>
            <a:ext cx="2423160" cy="347472"/>
          </a:xfrm>
          <a:prstGeom prst="rect">
            <a:avLst/>
          </a:prstGeom>
          <a:noFill/>
          <a:ln/>
        </p:spPr>
        <p:txBody>
          <a:bodyPr wrap="square" lIns="0" tIns="0" rIns="0" bIns="0" rtlCol="0" anchor="ctr"/>
          <a:lstStyle/>
          <a:p>
            <a:pPr marL="0" indent="0" algn="ctr">
              <a:buNone/>
            </a:pPr>
            <a:r>
              <a:rPr lang="en-US" sz="1100" b="1" kern="0" spc="110" dirty="0">
                <a:solidFill>
                  <a:srgbClr val="6D28D9"/>
                </a:solidFill>
                <a:latin typeface="Arial" pitchFamily="34" charset="0"/>
                <a:ea typeface="Arial" pitchFamily="34" charset="-122"/>
                <a:cs typeface="Arial" pitchFamily="34" charset="-120"/>
              </a:rPr>
              <a:t>SAMSUNG PRISM</a:t>
            </a:r>
            <a:endParaRPr lang="en-US" sz="1100" dirty="0"/>
          </a:p>
        </p:txBody>
      </p:sp>
      <p:sp>
        <p:nvSpPr>
          <p:cNvPr id="4" name="Text 2"/>
          <p:cNvSpPr txBox="1"/>
          <p:nvPr/>
        </p:nvSpPr>
        <p:spPr>
          <a:xfrm>
            <a:off x="777240" y="1207008"/>
            <a:ext cx="6126480" cy="749808"/>
          </a:xfrm>
          <a:prstGeom prst="rect">
            <a:avLst/>
          </a:prstGeom>
          <a:noFill/>
          <a:ln/>
        </p:spPr>
        <p:txBody>
          <a:bodyPr wrap="square" lIns="0" tIns="0" rIns="0" bIns="0" rtlCol="0" anchor="ctr"/>
          <a:lstStyle/>
          <a:p>
            <a:pPr marL="0" indent="0">
              <a:buNone/>
            </a:pPr>
            <a:r>
              <a:rPr lang="en-US" sz="5000" b="1" dirty="0">
                <a:solidFill>
                  <a:srgbClr val="14142B"/>
                </a:solidFill>
                <a:latin typeface="Arial" pitchFamily="34" charset="0"/>
                <a:ea typeface="Arial" pitchFamily="34" charset="-122"/>
                <a:cs typeface="Arial" pitchFamily="34" charset="-120"/>
              </a:rPr>
              <a:t>Generative AI</a:t>
            </a:r>
            <a:endParaRPr lang="en-US" sz="5000" dirty="0"/>
          </a:p>
        </p:txBody>
      </p:sp>
      <p:sp>
        <p:nvSpPr>
          <p:cNvPr id="5" name="Text 3"/>
          <p:cNvSpPr txBox="1"/>
          <p:nvPr/>
        </p:nvSpPr>
        <p:spPr>
          <a:xfrm>
            <a:off x="777240" y="1901952"/>
            <a:ext cx="6126480" cy="749808"/>
          </a:xfrm>
          <a:prstGeom prst="rect">
            <a:avLst/>
          </a:prstGeom>
          <a:noFill/>
          <a:ln/>
        </p:spPr>
        <p:txBody>
          <a:bodyPr wrap="square" lIns="0" tIns="0" rIns="0" bIns="0" rtlCol="0" anchor="ctr"/>
          <a:lstStyle/>
          <a:p>
            <a:pPr marL="0" indent="0">
              <a:buNone/>
            </a:pPr>
            <a:r>
              <a:rPr lang="en-US" sz="5000" b="1" dirty="0">
                <a:solidFill>
                  <a:srgbClr val="6D28D9"/>
                </a:solidFill>
                <a:latin typeface="Arial" pitchFamily="34" charset="0"/>
                <a:ea typeface="Arial" pitchFamily="34" charset="-122"/>
                <a:cs typeface="Arial" pitchFamily="34" charset="-120"/>
              </a:rPr>
              <a:t>Hackathon</a:t>
            </a:r>
            <a:endParaRPr lang="en-US" sz="5000" dirty="0"/>
          </a:p>
        </p:txBody>
      </p:sp>
      <p:sp>
        <p:nvSpPr>
          <p:cNvPr id="6" name="Text 4"/>
          <p:cNvSpPr txBox="1"/>
          <p:nvPr/>
        </p:nvSpPr>
        <p:spPr>
          <a:xfrm>
            <a:off x="777240" y="2724912"/>
            <a:ext cx="6126480" cy="457200"/>
          </a:xfrm>
          <a:prstGeom prst="rect">
            <a:avLst/>
          </a:prstGeom>
          <a:noFill/>
          <a:ln/>
        </p:spPr>
        <p:txBody>
          <a:bodyPr wrap="square" lIns="0" tIns="0" rIns="0" bIns="0" rtlCol="0" anchor="ctr"/>
          <a:lstStyle/>
          <a:p>
            <a:pPr marL="0" indent="0">
              <a:buNone/>
            </a:pPr>
            <a:r>
              <a:rPr lang="en-US" sz="2500" b="1" dirty="0">
                <a:solidFill>
                  <a:srgbClr val="14142B"/>
                </a:solidFill>
                <a:latin typeface="Arial" pitchFamily="34" charset="0"/>
                <a:ea typeface="Arial" pitchFamily="34" charset="-122"/>
                <a:cs typeface="Arial" pitchFamily="34" charset="-120"/>
              </a:rPr>
              <a:t>3rd Edition</a:t>
            </a:r>
            <a:r>
              <a:rPr lang="en-US" sz="2000" dirty="0">
                <a:solidFill>
                  <a:srgbClr val="63637E"/>
                </a:solidFill>
                <a:latin typeface="Calibri" pitchFamily="34" charset="0"/>
                <a:ea typeface="Calibri" pitchFamily="34" charset="-122"/>
                <a:cs typeface="Calibri" pitchFamily="34" charset="-120"/>
              </a:rPr>
              <a:t>   2026 – 27</a:t>
            </a:r>
            <a:endParaRPr lang="en-US" sz="2500" dirty="0"/>
          </a:p>
        </p:txBody>
      </p:sp>
      <p:sp>
        <p:nvSpPr>
          <p:cNvPr id="7" name="Text 5"/>
          <p:cNvSpPr txBox="1"/>
          <p:nvPr/>
        </p:nvSpPr>
        <p:spPr>
          <a:xfrm>
            <a:off x="777240" y="3310128"/>
            <a:ext cx="5852160" cy="77724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rgbClr val="63637E"/>
                </a:solidFill>
                <a:latin typeface="Calibri" pitchFamily="34" charset="0"/>
                <a:ea typeface="Calibri" pitchFamily="34" charset="-122"/>
                <a:cs typeface="Calibri" pitchFamily="34" charset="-120"/>
              </a:rPr>
              <a:t>Theme ID - Theme 2 · Smart Guided Troubleshooting Engine</a:t>
            </a:r>
          </a:p>
          <a:p>
            <a:pPr marL="177800" indent="-177800">
              <a:spcAft>
                <a:spcPts val="500"/>
              </a:spcAft>
              <a:buSzPct val="100000"/>
              <a:buChar char="•"/>
            </a:pPr>
            <a:r>
              <a:rPr lang="en-US" sz="1500" dirty="0">
                <a:solidFill>
                  <a:srgbClr val="63637E"/>
                </a:solidFill>
                <a:latin typeface="Calibri" pitchFamily="34" charset="0"/>
                <a:ea typeface="Calibri" pitchFamily="34" charset="-122"/>
                <a:cs typeface="Calibri" pitchFamily="34" charset="-120"/>
              </a:rPr>
              <a:t>Team Name - Syntax Error</a:t>
            </a:r>
          </a:p>
          <a:p>
            <a:pPr marL="177800" indent="-177800">
              <a:spcAft>
                <a:spcPts val="500"/>
              </a:spcAft>
              <a:buSzPct val="100000"/>
              <a:buChar char="•"/>
            </a:pPr>
            <a:r>
              <a:rPr lang="en-US" sz="1500" dirty="0">
                <a:solidFill>
                  <a:srgbClr val="63637E"/>
                </a:solidFill>
                <a:latin typeface="Calibri" pitchFamily="34" charset="0"/>
                <a:ea typeface="Calibri" pitchFamily="34" charset="-122"/>
                <a:cs typeface="Calibri" pitchFamily="34" charset="-120"/>
              </a:rPr>
              <a:t>College Name - M S Ramaiah Institute of Technology, Bengaluru</a:t>
            </a:r>
          </a:p>
          <a:p>
            <a:pPr marL="177800" indent="-177800">
              <a:spcAft>
                <a:spcPts val="500"/>
              </a:spcAft>
              <a:buSzPct val="100000"/>
              <a:buChar char="•"/>
            </a:pPr>
            <a:r>
              <a:rPr lang="en-US" sz="1500" dirty="0">
                <a:solidFill>
                  <a:srgbClr val="63637E"/>
                </a:solidFill>
                <a:latin typeface="Calibri" pitchFamily="34" charset="0"/>
                <a:ea typeface="Calibri" pitchFamily="34" charset="-122"/>
                <a:cs typeface="Calibri" pitchFamily="34" charset="-120"/>
              </a:rPr>
              <a:t>L Srishant Reddy – 1ms25ci070@msrit.edu</a:t>
            </a:r>
          </a:p>
          <a:p>
            <a:pPr marL="177800" indent="-177800">
              <a:spcAft>
                <a:spcPts val="500"/>
              </a:spcAft>
              <a:buSzPct val="100000"/>
              <a:buChar char="•"/>
            </a:pPr>
            <a:r>
              <a:rPr lang="en-US" sz="1500" dirty="0">
                <a:solidFill>
                  <a:srgbClr val="63637E"/>
                </a:solidFill>
                <a:latin typeface="Calibri" pitchFamily="34" charset="0"/>
                <a:ea typeface="Calibri" pitchFamily="34" charset="-122"/>
                <a:cs typeface="Calibri" pitchFamily="34" charset="-120"/>
              </a:rPr>
              <a:t>B Prajwal – 1ms25cs034@msrit.edu</a:t>
            </a:r>
          </a:p>
          <a:p>
            <a:pPr marL="177800" indent="-177800">
              <a:spcAft>
                <a:spcPts val="500"/>
              </a:spcAft>
              <a:buSzPct val="100000"/>
              <a:buFontTx/>
              <a:buChar char="•"/>
            </a:pPr>
            <a:r>
              <a:rPr lang="en-US" sz="1500" dirty="0">
                <a:solidFill>
                  <a:srgbClr val="63637E"/>
                </a:solidFill>
                <a:latin typeface="Calibri" pitchFamily="34" charset="0"/>
                <a:ea typeface="Calibri" pitchFamily="34" charset="-122"/>
                <a:cs typeface="Calibri" pitchFamily="34" charset="-120"/>
              </a:rPr>
              <a:t>B Darshan – 1ms25ad008@msrit.edu</a:t>
            </a:r>
          </a:p>
          <a:p>
            <a:pPr marL="177800" indent="-177800">
              <a:spcAft>
                <a:spcPts val="500"/>
              </a:spcAft>
              <a:buSzPct val="100000"/>
              <a:buFontTx/>
              <a:buChar char="•"/>
            </a:pPr>
            <a:r>
              <a:rPr lang="en-US" sz="1500" dirty="0">
                <a:solidFill>
                  <a:srgbClr val="63637E"/>
                </a:solidFill>
                <a:latin typeface="Calibri" pitchFamily="34" charset="0"/>
                <a:ea typeface="Calibri" pitchFamily="34" charset="-122"/>
                <a:cs typeface="Calibri" pitchFamily="34" charset="-120"/>
              </a:rPr>
              <a:t>M Kashif – 1ms25ci072@msrit.edu</a:t>
            </a:r>
          </a:p>
          <a:p>
            <a:pPr marL="177800" indent="-177800">
              <a:spcAft>
                <a:spcPts val="500"/>
              </a:spcAft>
              <a:buSzPct val="100000"/>
              <a:buFontTx/>
              <a:buChar char="•"/>
            </a:pPr>
            <a:r>
              <a:rPr lang="en-US" sz="1500" dirty="0">
                <a:solidFill>
                  <a:srgbClr val="63637E"/>
                </a:solidFill>
                <a:latin typeface="Calibri" pitchFamily="34" charset="0"/>
                <a:ea typeface="Calibri" pitchFamily="34" charset="-122"/>
                <a:cs typeface="Calibri" pitchFamily="34" charset="-120"/>
              </a:rPr>
              <a:t>Submission </a:t>
            </a:r>
            <a:r>
              <a:rPr lang="en-US" sz="1500" dirty="0" err="1">
                <a:solidFill>
                  <a:srgbClr val="63637E"/>
                </a:solidFill>
                <a:latin typeface="Calibri" pitchFamily="34" charset="0"/>
                <a:ea typeface="Calibri" pitchFamily="34" charset="-122"/>
                <a:cs typeface="Calibri" pitchFamily="34" charset="-120"/>
              </a:rPr>
              <a:t>Github</a:t>
            </a:r>
            <a:r>
              <a:rPr lang="en-US" sz="1500" dirty="0">
                <a:solidFill>
                  <a:srgbClr val="63637E"/>
                </a:solidFill>
                <a:latin typeface="Calibri" pitchFamily="34" charset="0"/>
                <a:ea typeface="Calibri" pitchFamily="34" charset="-122"/>
                <a:cs typeface="Calibri" pitchFamily="34" charset="-120"/>
              </a:rPr>
              <a:t> link - https://github.com/Srishant14/samsung-prism-troubleshooting-engine</a:t>
            </a:r>
          </a:p>
          <a:p>
            <a:pPr marL="177800" indent="-177800">
              <a:spcAft>
                <a:spcPts val="500"/>
              </a:spcAft>
              <a:buSzPct val="100000"/>
              <a:buChar char="•"/>
            </a:pPr>
            <a:endParaRPr lang="en-US" sz="1500" dirty="0">
              <a:solidFill>
                <a:srgbClr val="63637E"/>
              </a:solidFill>
              <a:latin typeface="Calibri" pitchFamily="34" charset="0"/>
              <a:ea typeface="Calibri" pitchFamily="34" charset="-122"/>
              <a:cs typeface="Calibri" pitchFamily="34" charset="-120"/>
            </a:endParaRPr>
          </a:p>
        </p:txBody>
      </p:sp>
      <p:pic>
        <p:nvPicPr>
          <p:cNvPr id="14" name="Image 0" descr="hero_network.png"/>
          <p:cNvPicPr>
            <a:picLocks noChangeAspect="1"/>
          </p:cNvPicPr>
          <p:nvPr/>
        </p:nvPicPr>
        <p:blipFill>
          <a:blip r:embed="rId3"/>
          <a:stretch>
            <a:fillRect/>
          </a:stretch>
        </p:blipFill>
        <p:spPr>
          <a:xfrm>
            <a:off x="7059168" y="1051560"/>
            <a:ext cx="4572000" cy="4572000"/>
          </a:xfrm>
          <a:prstGeom prst="rect">
            <a:avLst/>
          </a:prstGeom>
        </p:spPr>
      </p:pic>
      <p:sp>
        <p:nvSpPr>
          <p:cNvPr id="101" name="Tagline 101"/>
          <p:cNvSpPr/>
          <p:nvPr/>
        </p:nvSpPr>
        <p:spPr>
          <a:xfrm>
            <a:off x="7059168" y="5897880"/>
            <a:ext cx="4572000" cy="457200"/>
          </a:xfrm>
          <a:prstGeom prst="roundRect">
            <a:avLst>
              <a:gd name="adj" fmla="val 50000"/>
            </a:avLst>
          </a:prstGeom>
          <a:solidFill>
            <a:srgbClr val="FFFFFF"/>
          </a:solidFill>
          <a:ln w="12700">
            <a:solidFill>
              <a:srgbClr val="D9D3F0"/>
            </a:solidFill>
          </a:ln>
        </p:spPr>
        <p:txBody>
          <a:bodyPr wrap="square" lIns="137160" tIns="91440" rIns="137160" bIns="91440" rtlCol="0" anchor="ctr">
            <a:noAutofit/>
          </a:bodyPr>
          <a:lstStyle/>
          <a:p>
            <a:pPr marL="0" indent="0" algn="ctr">
              <a:spcBef>
                <a:spcPts val="0"/>
              </a:spcBef>
              <a:spcAft>
                <a:spcPts val="0"/>
              </a:spcAft>
              <a:buNone/>
            </a:pPr>
            <a:r>
              <a:rPr lang="en-US" sz="1500" b="1" dirty="0">
                <a:solidFill>
                  <a:srgbClr val="6D28D9"/>
                </a:solidFill>
                <a:latin typeface="Calibri"/>
                <a:cs typeface="Calibri"/>
              </a:rPr>
              <a:t>&lt;42 ms  •  Type-safe  •  Zero-token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Theme</a:t>
            </a:r>
          </a:p>
        </p:txBody>
      </p:sp>
      <p:sp>
        <p:nvSpPr>
          <p:cNvPr id="102" name="Shape 102"/>
          <p:cNvSpPr/>
          <p:nvPr/>
        </p:nvSpPr>
        <p:spPr>
          <a:xfrm>
            <a:off x="777240" y="1783080"/>
            <a:ext cx="1463040" cy="365760"/>
          </a:xfrm>
          <a:prstGeom prst="roundRect">
            <a:avLst>
              <a:gd name="adj" fmla="val 50000"/>
            </a:avLst>
          </a:prstGeom>
          <a:solidFill>
            <a:srgbClr val="FFFFFF"/>
          </a:solidFill>
          <a:ln w="12700">
            <a:solidFill>
              <a:srgbClr val="D9D3F0"/>
            </a:solidFill>
          </a:ln>
        </p:spPr>
        <p:txBody>
          <a:bodyPr wrap="square" lIns="137160" tIns="91440" rIns="137160" bIns="91440" rtlCol="0" anchor="ctr">
            <a:noAutofit/>
          </a:bodyPr>
          <a:lstStyle/>
          <a:p>
            <a:pPr marL="0" indent="0" algn="ctr">
              <a:spcBef>
                <a:spcPts val="0"/>
              </a:spcBef>
              <a:spcAft>
                <a:spcPts val="0"/>
              </a:spcAft>
              <a:buNone/>
            </a:pPr>
            <a:r>
              <a:rPr lang="en-US" sz="1200" b="1" dirty="0">
                <a:solidFill>
                  <a:srgbClr val="6D28D9"/>
                </a:solidFill>
                <a:latin typeface="Calibri"/>
                <a:cs typeface="Calibri"/>
              </a:rPr>
              <a:t>THEME 2</a:t>
            </a:r>
          </a:p>
        </p:txBody>
      </p:sp>
      <p:sp>
        <p:nvSpPr>
          <p:cNvPr id="103" name="Shape 103"/>
          <p:cNvSpPr txBox="1"/>
          <p:nvPr/>
        </p:nvSpPr>
        <p:spPr>
          <a:xfrm>
            <a:off x="777240" y="2286000"/>
            <a:ext cx="5760720" cy="1097280"/>
          </a:xfrm>
          <a:prstGeom prst="roundRect">
            <a:avLst>
              <a:gd name="adj" fmla="val 6000"/>
            </a:avLst>
          </a:prstGeom>
          <a:noFill/>
          <a:ln>
            <a:noFill/>
          </a:ln>
        </p:spPr>
        <p:txBody>
          <a:bodyPr wrap="square" lIns="0" tIns="0" rIns="0" bIns="0" rtlCol="0" anchor="t">
            <a:noAutofit/>
          </a:bodyPr>
          <a:lstStyle/>
          <a:p>
            <a:pPr marL="0" indent="0" algn="l">
              <a:spcBef>
                <a:spcPts val="0"/>
              </a:spcBef>
              <a:spcAft>
                <a:spcPts val="0"/>
              </a:spcAft>
              <a:buNone/>
            </a:pPr>
            <a:r>
              <a:rPr lang="en-US" sz="3200" b="1" dirty="0">
                <a:solidFill>
                  <a:srgbClr val="14142B"/>
                </a:solidFill>
                <a:latin typeface="Arial"/>
                <a:cs typeface="Arial"/>
              </a:rPr>
              <a:t>Smart Guided Troubleshooting Engine</a:t>
            </a:r>
          </a:p>
        </p:txBody>
      </p:sp>
      <p:sp>
        <p:nvSpPr>
          <p:cNvPr id="104" name="Shape 104"/>
          <p:cNvSpPr txBox="1"/>
          <p:nvPr/>
        </p:nvSpPr>
        <p:spPr>
          <a:xfrm>
            <a:off x="777240" y="3474720"/>
            <a:ext cx="5760720" cy="822960"/>
          </a:xfrm>
          <a:prstGeom prst="roundRect">
            <a:avLst>
              <a:gd name="adj" fmla="val 6000"/>
            </a:avLst>
          </a:prstGeom>
          <a:noFill/>
          <a:ln>
            <a:noFill/>
          </a:ln>
        </p:spPr>
        <p:txBody>
          <a:bodyPr wrap="square" lIns="0" tIns="0" rIns="0" bIns="0" rtlCol="0" anchor="t">
            <a:noAutofit/>
          </a:bodyPr>
          <a:lstStyle/>
          <a:p>
            <a:pPr marL="0" indent="0" algn="l">
              <a:spcBef>
                <a:spcPts val="0"/>
              </a:spcBef>
              <a:spcAft>
                <a:spcPts val="0"/>
              </a:spcAft>
              <a:buNone/>
            </a:pPr>
            <a:r>
              <a:rPr lang="en-US" sz="1800" b="0" dirty="0">
                <a:solidFill>
                  <a:srgbClr val="63637E"/>
                </a:solidFill>
                <a:latin typeface="Calibri"/>
                <a:cs typeface="Calibri"/>
              </a:rPr>
              <a:t>Turn a plain-language device problem into a verified, step-by-step fix — instantly.</a:t>
            </a:r>
          </a:p>
        </p:txBody>
      </p:sp>
      <p:sp>
        <p:nvSpPr>
          <p:cNvPr id="105" name="Shape 105"/>
          <p:cNvSpPr txBox="1"/>
          <p:nvPr/>
        </p:nvSpPr>
        <p:spPr>
          <a:xfrm>
            <a:off x="777240" y="4434840"/>
            <a:ext cx="5760720" cy="1645920"/>
          </a:xfrm>
          <a:prstGeom prst="roundRect">
            <a:avLst>
              <a:gd name="adj" fmla="val 6000"/>
            </a:avLst>
          </a:prstGeom>
          <a:noFill/>
          <a:ln>
            <a:noFill/>
          </a:ln>
        </p:spPr>
        <p:txBody>
          <a:bodyPr wrap="square" lIns="0" tIns="0" rIns="0" bIns="0" rtlCol="0" anchor="t">
            <a:noAutofit/>
          </a:bodyPr>
          <a:lstStyle/>
          <a:p>
            <a:pPr marL="228600" indent="-228600" algn="l">
              <a:spcBef>
                <a:spcPts val="0"/>
              </a:spcBef>
              <a:spcAft>
                <a:spcPts val="800"/>
              </a:spcAft>
              <a:buSzPct val="100000"/>
              <a:buChar char="•"/>
            </a:pPr>
            <a:r>
              <a:rPr lang="en-US" sz="1600" b="0" dirty="0">
                <a:solidFill>
                  <a:srgbClr val="14142B"/>
                </a:solidFill>
                <a:latin typeface="Calibri"/>
                <a:cs typeface="Calibri"/>
              </a:rPr>
              <a:t>Understand the problem the way users actually say it</a:t>
            </a:r>
          </a:p>
          <a:p>
            <a:pPr marL="228600" indent="-228600" algn="l">
              <a:spcBef>
                <a:spcPts val="0"/>
              </a:spcBef>
              <a:spcAft>
                <a:spcPts val="800"/>
              </a:spcAft>
              <a:buSzPct val="100000"/>
              <a:buChar char="•"/>
            </a:pPr>
            <a:r>
              <a:rPr lang="en-US" sz="1600" b="0" dirty="0">
                <a:solidFill>
                  <a:srgbClr val="14142B"/>
                </a:solidFill>
                <a:latin typeface="Calibri"/>
                <a:cs typeface="Calibri"/>
              </a:rPr>
              <a:t>Decide deterministically — no free-text generation</a:t>
            </a:r>
          </a:p>
          <a:p>
            <a:pPr marL="228600" indent="-228600" algn="l">
              <a:spcBef>
                <a:spcPts val="0"/>
              </a:spcBef>
              <a:spcAft>
                <a:spcPts val="800"/>
              </a:spcAft>
              <a:buSzPct val="100000"/>
              <a:buChar char="•"/>
            </a:pPr>
            <a:r>
              <a:rPr lang="en-US" sz="1600" b="0" dirty="0">
                <a:solidFill>
                  <a:srgbClr val="14142B"/>
                </a:solidFill>
                <a:latin typeface="Calibri"/>
                <a:cs typeface="Calibri"/>
              </a:rPr>
              <a:t>Guide with verified steps; escalate to a store or email when needed</a:t>
            </a:r>
          </a:p>
        </p:txBody>
      </p:sp>
      <p:sp>
        <p:nvSpPr>
          <p:cNvPr id="106" name="Shape 106"/>
          <p:cNvSpPr/>
          <p:nvPr/>
        </p:nvSpPr>
        <p:spPr>
          <a:xfrm>
            <a:off x="6949440" y="1783080"/>
            <a:ext cx="4462272" cy="1371600"/>
          </a:xfrm>
          <a:prstGeom prst="roundRect">
            <a:avLst>
              <a:gd name="adj" fmla="val 8000"/>
            </a:avLst>
          </a:prstGeom>
          <a:solidFill>
            <a:srgbClr val="6D28D9"/>
          </a:solidFill>
          <a:ln>
            <a:noFill/>
          </a:ln>
        </p:spPr>
        <p:txBody>
          <a:bodyPr wrap="square" lIns="274320" tIns="91440" rIns="274320" bIns="91440" rtlCol="0" anchor="ctr">
            <a:noAutofit/>
          </a:bodyPr>
          <a:lstStyle/>
          <a:p>
            <a:pPr marL="0" indent="0" algn="l">
              <a:spcBef>
                <a:spcPts val="0"/>
              </a:spcBef>
              <a:spcAft>
                <a:spcPts val="0"/>
              </a:spcAft>
              <a:buNone/>
            </a:pPr>
            <a:r>
              <a:rPr lang="en-US" sz="4000" b="1" dirty="0">
                <a:solidFill>
                  <a:srgbClr val="FFFFFF"/>
                </a:solidFill>
                <a:latin typeface="Arial"/>
                <a:cs typeface="Arial"/>
              </a:rPr>
              <a:t>&lt;42 ms</a:t>
            </a:r>
          </a:p>
          <a:p>
            <a:pPr marL="0" indent="0" algn="l">
              <a:spcBef>
                <a:spcPts val="0"/>
              </a:spcBef>
              <a:spcAft>
                <a:spcPts val="0"/>
              </a:spcAft>
              <a:buNone/>
            </a:pPr>
            <a:r>
              <a:rPr lang="en-US" sz="1400" b="0" dirty="0">
                <a:solidFill>
                  <a:srgbClr val="E9E1F8"/>
                </a:solidFill>
                <a:latin typeface="Calibri"/>
                <a:cs typeface="Calibri"/>
              </a:rPr>
              <a:t>end-to-end latency</a:t>
            </a:r>
          </a:p>
        </p:txBody>
      </p:sp>
      <p:sp>
        <p:nvSpPr>
          <p:cNvPr id="107" name="Shape 107"/>
          <p:cNvSpPr/>
          <p:nvPr/>
        </p:nvSpPr>
        <p:spPr>
          <a:xfrm>
            <a:off x="6949440" y="3337560"/>
            <a:ext cx="4462272" cy="1371600"/>
          </a:xfrm>
          <a:prstGeom prst="roundRect">
            <a:avLst>
              <a:gd name="adj" fmla="val 8000"/>
            </a:avLst>
          </a:prstGeom>
          <a:solidFill>
            <a:srgbClr val="6D28D9"/>
          </a:solidFill>
          <a:ln>
            <a:noFill/>
          </a:ln>
        </p:spPr>
        <p:txBody>
          <a:bodyPr wrap="square" lIns="274320" tIns="91440" rIns="274320" bIns="91440" rtlCol="0" anchor="ctr">
            <a:noAutofit/>
          </a:bodyPr>
          <a:lstStyle/>
          <a:p>
            <a:pPr marL="0" indent="0" algn="l">
              <a:spcBef>
                <a:spcPts val="0"/>
              </a:spcBef>
              <a:spcAft>
                <a:spcPts val="0"/>
              </a:spcAft>
              <a:buNone/>
            </a:pPr>
            <a:r>
              <a:rPr lang="en-US" sz="4000" b="1" dirty="0">
                <a:solidFill>
                  <a:srgbClr val="FFFFFF"/>
                </a:solidFill>
                <a:latin typeface="Arial"/>
                <a:cs typeface="Arial"/>
              </a:rPr>
              <a:t>20×</a:t>
            </a:r>
          </a:p>
          <a:p>
            <a:pPr marL="0" indent="0" algn="l">
              <a:spcBef>
                <a:spcPts val="0"/>
              </a:spcBef>
              <a:spcAft>
                <a:spcPts val="0"/>
              </a:spcAft>
              <a:buNone/>
            </a:pPr>
            <a:r>
              <a:rPr lang="en-US" sz="1400" b="0" dirty="0">
                <a:solidFill>
                  <a:srgbClr val="E9E1F8"/>
                </a:solidFill>
                <a:latin typeface="Calibri"/>
                <a:cs typeface="Calibri"/>
              </a:rPr>
              <a:t>faster than conventional LLM-based solutions</a:t>
            </a:r>
          </a:p>
        </p:txBody>
      </p:sp>
      <p:sp>
        <p:nvSpPr>
          <p:cNvPr id="108" name="Shape 108"/>
          <p:cNvSpPr/>
          <p:nvPr/>
        </p:nvSpPr>
        <p:spPr>
          <a:xfrm>
            <a:off x="6949440" y="4892040"/>
            <a:ext cx="4462272" cy="1371600"/>
          </a:xfrm>
          <a:prstGeom prst="roundRect">
            <a:avLst>
              <a:gd name="adj" fmla="val 8000"/>
            </a:avLst>
          </a:prstGeom>
          <a:solidFill>
            <a:srgbClr val="6D28D9"/>
          </a:solidFill>
          <a:ln>
            <a:noFill/>
          </a:ln>
        </p:spPr>
        <p:txBody>
          <a:bodyPr wrap="square" lIns="274320" tIns="91440" rIns="274320" bIns="91440" rtlCol="0" anchor="ctr">
            <a:noAutofit/>
          </a:bodyPr>
          <a:lstStyle/>
          <a:p>
            <a:pPr marL="0" indent="0" algn="l">
              <a:spcBef>
                <a:spcPts val="0"/>
              </a:spcBef>
              <a:spcAft>
                <a:spcPts val="0"/>
              </a:spcAft>
              <a:buNone/>
            </a:pPr>
            <a:r>
              <a:rPr lang="en-US" sz="4000" b="1" dirty="0">
                <a:solidFill>
                  <a:srgbClr val="FFFFFF"/>
                </a:solidFill>
                <a:latin typeface="Arial"/>
                <a:cs typeface="Arial"/>
              </a:rPr>
              <a:t>1,420</a:t>
            </a:r>
          </a:p>
          <a:p>
            <a:pPr marL="0" indent="0" algn="l">
              <a:spcBef>
                <a:spcPts val="0"/>
              </a:spcBef>
              <a:spcAft>
                <a:spcPts val="0"/>
              </a:spcAft>
              <a:buNone/>
            </a:pPr>
            <a:r>
              <a:rPr lang="en-US" sz="1400" b="0" dirty="0">
                <a:solidFill>
                  <a:srgbClr val="E9E1F8"/>
                </a:solidFill>
                <a:latin typeface="Calibri"/>
                <a:cs typeface="Calibri"/>
              </a:rPr>
              <a:t>tokens saved per session</a:t>
            </a:r>
          </a:p>
        </p:txBody>
      </p:sp>
    </p:spTree>
    <p:extLst>
      <p:ext uri="{BB962C8B-B14F-4D97-AF65-F5344CB8AC3E}">
        <p14:creationId xmlns:p14="http://schemas.microsoft.com/office/powerpoint/2010/main" val="25647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Existing Solutions &amp; Gaps</a:t>
            </a:r>
          </a:p>
        </p:txBody>
      </p:sp>
      <p:sp>
        <p:nvSpPr>
          <p:cNvPr id="109" name="Shape 109"/>
          <p:cNvSpPr/>
          <p:nvPr/>
        </p:nvSpPr>
        <p:spPr>
          <a:xfrm>
            <a:off x="777240" y="1783080"/>
            <a:ext cx="3392424" cy="3154680"/>
          </a:xfrm>
          <a:prstGeom prst="roundRect">
            <a:avLst>
              <a:gd name="adj" fmla="val 4000"/>
            </a:avLst>
          </a:prstGeom>
          <a:solidFill>
            <a:srgbClr val="F5F1FB"/>
          </a:solidFill>
          <a:ln w="12700">
            <a:solidFill>
              <a:srgbClr val="D9D3F0"/>
            </a:solidFill>
          </a:ln>
        </p:spPr>
        <p:txBody>
          <a:bodyPr wrap="square" lIns="201168" tIns="164592" rIns="182880" bIns="91440" rtlCol="0" anchor="t">
            <a:noAutofit/>
          </a:bodyPr>
          <a:lstStyle/>
          <a:p>
            <a:pPr marL="0" indent="0" algn="l">
              <a:spcBef>
                <a:spcPts val="0"/>
              </a:spcBef>
              <a:spcAft>
                <a:spcPts val="500"/>
              </a:spcAft>
              <a:buNone/>
            </a:pPr>
            <a:r>
              <a:rPr lang="en-US" sz="2100" b="1" dirty="0">
                <a:solidFill>
                  <a:srgbClr val="704EA6"/>
                </a:solidFill>
                <a:latin typeface="Calibri"/>
                <a:cs typeface="Calibri"/>
              </a:rPr>
              <a:t>Generative LLM chatbots</a:t>
            </a:r>
          </a:p>
          <a:p>
            <a:pPr marL="0" indent="0" algn="l">
              <a:spcBef>
                <a:spcPts val="0"/>
              </a:spcBef>
              <a:spcAft>
                <a:spcPts val="1200"/>
              </a:spcAft>
              <a:buNone/>
            </a:pPr>
            <a:r>
              <a:rPr lang="en-US" sz="1600" b="0" dirty="0">
                <a:solidFill>
                  <a:srgbClr val="63637E"/>
                </a:solidFill>
                <a:latin typeface="Calibri"/>
                <a:cs typeface="Calibri"/>
              </a:rPr>
              <a:t>Generate a fresh answer for every single query.</a:t>
            </a:r>
          </a:p>
          <a:p>
            <a:pPr marL="0" indent="0" algn="l">
              <a:spcBef>
                <a:spcPts val="0"/>
              </a:spcBef>
              <a:spcAft>
                <a:spcPts val="500"/>
              </a:spcAft>
              <a:buNone/>
            </a:pPr>
            <a:r>
              <a:rPr lang="en-US" sz="1300" b="1" dirty="0">
                <a:solidFill>
                  <a:srgbClr val="6D28D9"/>
                </a:solidFill>
                <a:latin typeface="Calibri"/>
                <a:cs typeface="Calibri"/>
              </a:rPr>
              <a:t>THE GAP</a:t>
            </a:r>
          </a:p>
          <a:p>
            <a:pPr marL="228600" indent="-228600" algn="l">
              <a:spcBef>
                <a:spcPts val="0"/>
              </a:spcBef>
              <a:spcAft>
                <a:spcPts val="700"/>
              </a:spcAft>
              <a:buSzPct val="100000"/>
              <a:buChar char="•"/>
            </a:pPr>
            <a:r>
              <a:rPr lang="en-US" sz="1700" b="0" dirty="0">
                <a:solidFill>
                  <a:srgbClr val="14142B"/>
                </a:solidFill>
                <a:latin typeface="Calibri"/>
                <a:cs typeface="Calibri"/>
              </a:rPr>
              <a:t>~840 ms round-trip per session</a:t>
            </a:r>
          </a:p>
          <a:p>
            <a:pPr marL="228600" indent="-228600" algn="l">
              <a:spcBef>
                <a:spcPts val="0"/>
              </a:spcBef>
              <a:spcAft>
                <a:spcPts val="700"/>
              </a:spcAft>
              <a:buSzPct val="100000"/>
              <a:buChar char="•"/>
            </a:pPr>
            <a:r>
              <a:rPr lang="en-US" sz="1700" b="0" dirty="0">
                <a:solidFill>
                  <a:srgbClr val="14142B"/>
                </a:solidFill>
                <a:latin typeface="Calibri"/>
                <a:cs typeface="Calibri"/>
              </a:rPr>
              <a:t>Token cost on every turn</a:t>
            </a:r>
          </a:p>
          <a:p>
            <a:pPr marL="228600" indent="-228600" algn="l">
              <a:spcBef>
                <a:spcPts val="0"/>
              </a:spcBef>
              <a:spcAft>
                <a:spcPts val="700"/>
              </a:spcAft>
              <a:buSzPct val="100000"/>
              <a:buChar char="•"/>
            </a:pPr>
            <a:r>
              <a:rPr lang="en-US" sz="1700" b="0" dirty="0">
                <a:solidFill>
                  <a:srgbClr val="14142B"/>
                </a:solidFill>
                <a:latin typeface="Calibri"/>
                <a:cs typeface="Calibri"/>
              </a:rPr>
              <a:t>Free-text steps can hallucinate</a:t>
            </a:r>
          </a:p>
        </p:txBody>
      </p:sp>
      <p:sp>
        <p:nvSpPr>
          <p:cNvPr id="110" name="Shape 110"/>
          <p:cNvSpPr/>
          <p:nvPr/>
        </p:nvSpPr>
        <p:spPr>
          <a:xfrm>
            <a:off x="4398264" y="1783080"/>
            <a:ext cx="3392424" cy="3154680"/>
          </a:xfrm>
          <a:prstGeom prst="roundRect">
            <a:avLst>
              <a:gd name="adj" fmla="val 4000"/>
            </a:avLst>
          </a:prstGeom>
          <a:solidFill>
            <a:srgbClr val="F5F1FB"/>
          </a:solidFill>
          <a:ln w="12700">
            <a:solidFill>
              <a:srgbClr val="D9D3F0"/>
            </a:solidFill>
          </a:ln>
        </p:spPr>
        <p:txBody>
          <a:bodyPr wrap="square" lIns="201168" tIns="164592" rIns="182880" bIns="91440" rtlCol="0" anchor="t">
            <a:noAutofit/>
          </a:bodyPr>
          <a:lstStyle/>
          <a:p>
            <a:pPr marL="0" indent="0" algn="l">
              <a:spcBef>
                <a:spcPts val="0"/>
              </a:spcBef>
              <a:spcAft>
                <a:spcPts val="500"/>
              </a:spcAft>
              <a:buNone/>
            </a:pPr>
            <a:r>
              <a:rPr lang="en-US" sz="2100" b="1" dirty="0">
                <a:solidFill>
                  <a:srgbClr val="704EA6"/>
                </a:solidFill>
                <a:latin typeface="Calibri"/>
                <a:cs typeface="Calibri"/>
              </a:rPr>
              <a:t>Static FAQs &amp; keyword search</a:t>
            </a:r>
          </a:p>
          <a:p>
            <a:pPr marL="0" indent="0" algn="l">
              <a:spcBef>
                <a:spcPts val="0"/>
              </a:spcBef>
              <a:spcAft>
                <a:spcPts val="1200"/>
              </a:spcAft>
              <a:buNone/>
            </a:pPr>
            <a:r>
              <a:rPr lang="en-US" sz="1600" b="0" dirty="0">
                <a:solidFill>
                  <a:srgbClr val="63637E"/>
                </a:solidFill>
                <a:latin typeface="Calibri"/>
                <a:cs typeface="Calibri"/>
              </a:rPr>
              <a:t>Match keywords against long help articles.</a:t>
            </a:r>
          </a:p>
          <a:p>
            <a:pPr marL="0" indent="0" algn="l">
              <a:spcBef>
                <a:spcPts val="0"/>
              </a:spcBef>
              <a:spcAft>
                <a:spcPts val="500"/>
              </a:spcAft>
              <a:buNone/>
            </a:pPr>
            <a:r>
              <a:rPr lang="en-US" sz="1300" b="1" dirty="0">
                <a:solidFill>
                  <a:srgbClr val="6D28D9"/>
                </a:solidFill>
                <a:latin typeface="Calibri"/>
                <a:cs typeface="Calibri"/>
              </a:rPr>
              <a:t>THE GAP</a:t>
            </a:r>
          </a:p>
          <a:p>
            <a:pPr marL="228600" indent="-228600" algn="l">
              <a:spcBef>
                <a:spcPts val="0"/>
              </a:spcBef>
              <a:spcAft>
                <a:spcPts val="700"/>
              </a:spcAft>
              <a:buSzPct val="100000"/>
              <a:buChar char="•"/>
            </a:pPr>
            <a:r>
              <a:rPr lang="en-US" sz="1700" b="0" dirty="0">
                <a:solidFill>
                  <a:srgbClr val="14142B"/>
                </a:solidFill>
                <a:latin typeface="Calibri"/>
                <a:cs typeface="Calibri"/>
              </a:rPr>
              <a:t>Miss plain-language phrasing</a:t>
            </a:r>
          </a:p>
          <a:p>
            <a:pPr marL="228600" indent="-228600" algn="l">
              <a:spcBef>
                <a:spcPts val="0"/>
              </a:spcBef>
              <a:spcAft>
                <a:spcPts val="700"/>
              </a:spcAft>
              <a:buSzPct val="100000"/>
              <a:buChar char="•"/>
            </a:pPr>
            <a:r>
              <a:rPr lang="en-US" sz="1700" b="0" dirty="0">
                <a:solidFill>
                  <a:srgbClr val="14142B"/>
                </a:solidFill>
                <a:latin typeface="Calibri"/>
                <a:cs typeface="Calibri"/>
              </a:rPr>
              <a:t>Users dig through articles themselves</a:t>
            </a:r>
          </a:p>
          <a:p>
            <a:pPr marL="228600" indent="-228600" algn="l">
              <a:spcBef>
                <a:spcPts val="0"/>
              </a:spcBef>
              <a:spcAft>
                <a:spcPts val="700"/>
              </a:spcAft>
              <a:buSzPct val="100000"/>
              <a:buChar char="•"/>
            </a:pPr>
            <a:r>
              <a:rPr lang="en-US" sz="1700" b="0" dirty="0">
                <a:solidFill>
                  <a:srgbClr val="14142B"/>
                </a:solidFill>
                <a:latin typeface="Calibri"/>
                <a:cs typeface="Calibri"/>
              </a:rPr>
              <a:t>No guided, step-by-step flow</a:t>
            </a:r>
          </a:p>
        </p:txBody>
      </p:sp>
      <p:sp>
        <p:nvSpPr>
          <p:cNvPr id="111" name="Shape 111"/>
          <p:cNvSpPr/>
          <p:nvPr/>
        </p:nvSpPr>
        <p:spPr>
          <a:xfrm>
            <a:off x="8019288" y="1783080"/>
            <a:ext cx="3392424" cy="3154680"/>
          </a:xfrm>
          <a:prstGeom prst="roundRect">
            <a:avLst>
              <a:gd name="adj" fmla="val 4000"/>
            </a:avLst>
          </a:prstGeom>
          <a:solidFill>
            <a:srgbClr val="F5F1FB"/>
          </a:solidFill>
          <a:ln w="12700">
            <a:solidFill>
              <a:srgbClr val="D9D3F0"/>
            </a:solidFill>
          </a:ln>
        </p:spPr>
        <p:txBody>
          <a:bodyPr wrap="square" lIns="201168" tIns="164592" rIns="182880" bIns="91440" rtlCol="0" anchor="t">
            <a:noAutofit/>
          </a:bodyPr>
          <a:lstStyle/>
          <a:p>
            <a:pPr marL="0" indent="0" algn="l">
              <a:spcBef>
                <a:spcPts val="0"/>
              </a:spcBef>
              <a:spcAft>
                <a:spcPts val="500"/>
              </a:spcAft>
              <a:buNone/>
            </a:pPr>
            <a:r>
              <a:rPr lang="en-US" sz="2100" b="1" dirty="0">
                <a:solidFill>
                  <a:srgbClr val="704EA6"/>
                </a:solidFill>
                <a:latin typeface="Calibri"/>
                <a:cs typeface="Calibri"/>
              </a:rPr>
              <a:t>Vanilla RAG</a:t>
            </a:r>
          </a:p>
          <a:p>
            <a:pPr marL="0" indent="0" algn="l">
              <a:spcBef>
                <a:spcPts val="0"/>
              </a:spcBef>
              <a:spcAft>
                <a:spcPts val="1200"/>
              </a:spcAft>
              <a:buNone/>
            </a:pPr>
            <a:r>
              <a:rPr lang="en-US" sz="1600" b="0" dirty="0">
                <a:solidFill>
                  <a:srgbClr val="63637E"/>
                </a:solidFill>
                <a:latin typeface="Calibri"/>
                <a:cs typeface="Calibri"/>
              </a:rPr>
              <a:t>Embed, retrieve, then generate with an LLM.</a:t>
            </a:r>
          </a:p>
          <a:p>
            <a:pPr marL="0" indent="0" algn="l">
              <a:spcBef>
                <a:spcPts val="0"/>
              </a:spcBef>
              <a:spcAft>
                <a:spcPts val="500"/>
              </a:spcAft>
              <a:buNone/>
            </a:pPr>
            <a:r>
              <a:rPr lang="en-US" sz="1300" b="1" dirty="0">
                <a:solidFill>
                  <a:srgbClr val="6D28D9"/>
                </a:solidFill>
                <a:latin typeface="Calibri"/>
                <a:cs typeface="Calibri"/>
              </a:rPr>
              <a:t>THE GAP</a:t>
            </a:r>
          </a:p>
          <a:p>
            <a:pPr marL="228600" indent="-228600" algn="l">
              <a:spcBef>
                <a:spcPts val="0"/>
              </a:spcBef>
              <a:spcAft>
                <a:spcPts val="700"/>
              </a:spcAft>
              <a:buSzPct val="100000"/>
              <a:buChar char="•"/>
            </a:pPr>
            <a:r>
              <a:rPr lang="en-US" sz="1700" b="0" dirty="0">
                <a:solidFill>
                  <a:srgbClr val="14142B"/>
                </a:solidFill>
                <a:latin typeface="Calibri"/>
                <a:cs typeface="Calibri"/>
              </a:rPr>
              <a:t>Still pays the LLM generation cost</a:t>
            </a:r>
          </a:p>
          <a:p>
            <a:pPr marL="228600" indent="-228600" algn="l">
              <a:spcBef>
                <a:spcPts val="0"/>
              </a:spcBef>
              <a:spcAft>
                <a:spcPts val="700"/>
              </a:spcAft>
              <a:buSzPct val="100000"/>
              <a:buChar char="•"/>
            </a:pPr>
            <a:r>
              <a:rPr lang="en-US" sz="1700" b="0" dirty="0">
                <a:solidFill>
                  <a:srgbClr val="14142B"/>
                </a:solidFill>
                <a:latin typeface="Calibri"/>
                <a:cs typeface="Calibri"/>
              </a:rPr>
              <a:t>Quality hinges on embeddings</a:t>
            </a:r>
          </a:p>
          <a:p>
            <a:pPr marL="228600" indent="-228600" algn="l">
              <a:spcBef>
                <a:spcPts val="0"/>
              </a:spcBef>
              <a:spcAft>
                <a:spcPts val="700"/>
              </a:spcAft>
              <a:buSzPct val="100000"/>
              <a:buChar char="•"/>
            </a:pPr>
            <a:r>
              <a:rPr lang="en-US" sz="1700" b="0" dirty="0">
                <a:solidFill>
                  <a:srgbClr val="14142B"/>
                </a:solidFill>
                <a:latin typeface="Calibri"/>
                <a:cs typeface="Calibri"/>
              </a:rPr>
              <a:t>No deterministic fast path for common issues</a:t>
            </a:r>
          </a:p>
        </p:txBody>
      </p:sp>
      <p:sp>
        <p:nvSpPr>
          <p:cNvPr id="112" name="Shape 112"/>
          <p:cNvSpPr/>
          <p:nvPr/>
        </p:nvSpPr>
        <p:spPr>
          <a:xfrm>
            <a:off x="777240" y="5212080"/>
            <a:ext cx="10634472" cy="914400"/>
          </a:xfrm>
          <a:prstGeom prst="roundRect">
            <a:avLst>
              <a:gd name="adj" fmla="val 8000"/>
            </a:avLst>
          </a:prstGeom>
          <a:solidFill>
            <a:srgbClr val="14142B"/>
          </a:solidFill>
          <a:ln>
            <a:noFill/>
          </a:ln>
        </p:spPr>
        <p:txBody>
          <a:bodyPr wrap="square" lIns="274320" tIns="91440" rIns="274320" bIns="91440" rtlCol="0" anchor="ctr">
            <a:noAutofit/>
          </a:bodyPr>
          <a:lstStyle/>
          <a:p>
            <a:pPr marL="0" indent="0" algn="l">
              <a:spcBef>
                <a:spcPts val="0"/>
              </a:spcBef>
              <a:spcAft>
                <a:spcPts val="0"/>
              </a:spcAft>
              <a:buNone/>
            </a:pPr>
            <a:r>
              <a:rPr lang="en-US" sz="2000" b="1" dirty="0">
                <a:solidFill>
                  <a:srgbClr val="FFFFFF"/>
                </a:solidFill>
                <a:latin typeface="Calibri"/>
                <a:cs typeface="Calibri"/>
              </a:rPr>
              <a:t>The gap: </a:t>
            </a:r>
            <a:r>
              <a:rPr lang="en-US" sz="2000" b="0" dirty="0">
                <a:solidFill>
                  <a:srgbClr val="FFFFFF"/>
                </a:solidFill>
                <a:latin typeface="Calibri"/>
                <a:cs typeface="Calibri"/>
              </a:rPr>
              <a:t>nothing is fast, deterministic, and always gives the user a next step. We built exactly that.</a:t>
            </a:r>
          </a:p>
        </p:txBody>
      </p:sp>
    </p:spTree>
    <p:extLst>
      <p:ext uri="{BB962C8B-B14F-4D97-AF65-F5344CB8AC3E}">
        <p14:creationId xmlns:p14="http://schemas.microsoft.com/office/powerpoint/2010/main" val="154997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909917" y="266513"/>
            <a:ext cx="10515600" cy="1325563"/>
          </a:xfrm>
        </p:spPr>
        <p:txBody>
          <a:bodyPr/>
          <a:lstStyle/>
          <a:p>
            <a:r>
              <a:rPr lang="en-IN" b="1" dirty="0">
                <a:solidFill>
                  <a:srgbClr val="704EA6"/>
                </a:solidFill>
                <a:latin typeface="+mn-lt"/>
              </a:rPr>
              <a:t>Our Solutions &amp; Architecture Diagram</a:t>
            </a:r>
          </a:p>
        </p:txBody>
      </p:sp>
      <p:sp>
        <p:nvSpPr>
          <p:cNvPr id="113" name="Shape 113"/>
          <p:cNvSpPr/>
          <p:nvPr/>
        </p:nvSpPr>
        <p:spPr>
          <a:xfrm>
            <a:off x="777240" y="1783080"/>
            <a:ext cx="1834286" cy="2103120"/>
          </a:xfrm>
          <a:prstGeom prst="roundRect">
            <a:avLst>
              <a:gd name="adj" fmla="val 6000"/>
            </a:avLst>
          </a:prstGeom>
          <a:solidFill>
            <a:srgbClr val="F5F1FB"/>
          </a:solidFill>
          <a:ln w="12700">
            <a:solidFill>
              <a:srgbClr val="D9D3F0"/>
            </a:solidFill>
          </a:ln>
        </p:spPr>
        <p:txBody>
          <a:bodyPr wrap="square" lIns="128016" tIns="146304" rIns="109728" bIns="91440" rtlCol="0" anchor="t">
            <a:noAutofit/>
          </a:bodyPr>
          <a:lstStyle/>
          <a:p>
            <a:pPr marL="0" indent="0" algn="l">
              <a:spcBef>
                <a:spcPts val="0"/>
              </a:spcBef>
              <a:spcAft>
                <a:spcPts val="600"/>
              </a:spcAft>
              <a:buNone/>
            </a:pPr>
            <a:r>
              <a:rPr lang="en-US" sz="1400" b="1" dirty="0">
                <a:solidFill>
                  <a:srgbClr val="6D28D9"/>
                </a:solidFill>
                <a:latin typeface="Calibri"/>
                <a:cs typeface="Calibri"/>
              </a:rPr>
              <a:t>INPUT</a:t>
            </a:r>
          </a:p>
          <a:p>
            <a:pPr marL="0" indent="0" algn="l">
              <a:spcBef>
                <a:spcPts val="0"/>
              </a:spcBef>
              <a:spcAft>
                <a:spcPts val="600"/>
              </a:spcAft>
              <a:buNone/>
            </a:pPr>
            <a:r>
              <a:rPr lang="en-US" sz="1800" b="1" dirty="0">
                <a:solidFill>
                  <a:srgbClr val="14142B"/>
                </a:solidFill>
                <a:latin typeface="Calibri"/>
                <a:cs typeface="Calibri"/>
              </a:rPr>
              <a:t>User query</a:t>
            </a:r>
          </a:p>
          <a:p>
            <a:pPr marL="0" indent="0" algn="l">
              <a:spcBef>
                <a:spcPts val="0"/>
              </a:spcBef>
              <a:spcAft>
                <a:spcPts val="0"/>
              </a:spcAft>
              <a:buNone/>
            </a:pPr>
            <a:r>
              <a:rPr lang="en-US" sz="1300" b="0" dirty="0">
                <a:solidFill>
                  <a:srgbClr val="63637E"/>
                </a:solidFill>
                <a:latin typeface="Calibri"/>
                <a:cs typeface="Calibri"/>
              </a:rPr>
              <a:t>Plain-language device problem</a:t>
            </a:r>
          </a:p>
        </p:txBody>
      </p:sp>
      <p:cxnSp>
        <p:nvCxnSpPr>
          <p:cNvPr id="114" name="Arrow 114"/>
          <p:cNvCxnSpPr/>
          <p:nvPr/>
        </p:nvCxnSpPr>
        <p:spPr>
          <a:xfrm>
            <a:off x="2657246" y="2834640"/>
            <a:ext cx="274320" cy="0"/>
          </a:xfrm>
          <a:prstGeom prst="line">
            <a:avLst/>
          </a:prstGeom>
          <a:ln w="28575">
            <a:solidFill>
              <a:srgbClr val="704EA6"/>
            </a:solidFill>
            <a:tailEnd type="triangle" w="med" len="med"/>
          </a:ln>
        </p:spPr>
      </p:cxnSp>
      <p:sp>
        <p:nvSpPr>
          <p:cNvPr id="115" name="Shape 115"/>
          <p:cNvSpPr/>
          <p:nvPr/>
        </p:nvSpPr>
        <p:spPr>
          <a:xfrm>
            <a:off x="2977286" y="1783080"/>
            <a:ext cx="1834286" cy="2103120"/>
          </a:xfrm>
          <a:prstGeom prst="roundRect">
            <a:avLst>
              <a:gd name="adj" fmla="val 6000"/>
            </a:avLst>
          </a:prstGeom>
          <a:solidFill>
            <a:srgbClr val="F5F1FB"/>
          </a:solidFill>
          <a:ln w="12700">
            <a:solidFill>
              <a:srgbClr val="D9D3F0"/>
            </a:solidFill>
          </a:ln>
        </p:spPr>
        <p:txBody>
          <a:bodyPr wrap="square" lIns="128016" tIns="146304" rIns="109728" bIns="91440" rtlCol="0" anchor="t">
            <a:noAutofit/>
          </a:bodyPr>
          <a:lstStyle/>
          <a:p>
            <a:pPr marL="0" indent="0" algn="l">
              <a:spcBef>
                <a:spcPts val="0"/>
              </a:spcBef>
              <a:spcAft>
                <a:spcPts val="600"/>
              </a:spcAft>
              <a:buNone/>
            </a:pPr>
            <a:r>
              <a:rPr lang="en-US" sz="1400" b="1" dirty="0">
                <a:solidFill>
                  <a:srgbClr val="6D28D9"/>
                </a:solidFill>
                <a:latin typeface="Calibri"/>
                <a:cs typeface="Calibri"/>
              </a:rPr>
              <a:t>&lt;1 ms</a:t>
            </a:r>
          </a:p>
          <a:p>
            <a:pPr marL="0" indent="0" algn="l">
              <a:spcBef>
                <a:spcPts val="0"/>
              </a:spcBef>
              <a:spcAft>
                <a:spcPts val="600"/>
              </a:spcAft>
              <a:buNone/>
            </a:pPr>
            <a:r>
              <a:rPr lang="en-US" sz="1800" b="1" dirty="0">
                <a:solidFill>
                  <a:srgbClr val="14142B"/>
                </a:solidFill>
                <a:latin typeface="Calibri"/>
                <a:cs typeface="Calibri"/>
              </a:rPr>
              <a:t>Deterministic Fast-Gate</a:t>
            </a:r>
          </a:p>
          <a:p>
            <a:pPr marL="0" indent="0" algn="l">
              <a:spcBef>
                <a:spcPts val="0"/>
              </a:spcBef>
              <a:spcAft>
                <a:spcPts val="0"/>
              </a:spcAft>
              <a:buNone/>
            </a:pPr>
            <a:r>
              <a:rPr lang="en-US" sz="1300" b="0" dirty="0">
                <a:solidFill>
                  <a:srgbClr val="63637E"/>
                </a:solidFill>
                <a:latin typeface="Calibri"/>
                <a:cs typeface="Calibri"/>
              </a:rPr>
              <a:t>Rules catch known patterns instantly</a:t>
            </a:r>
          </a:p>
        </p:txBody>
      </p:sp>
      <p:cxnSp>
        <p:nvCxnSpPr>
          <p:cNvPr id="116" name="Arrow 116"/>
          <p:cNvCxnSpPr/>
          <p:nvPr/>
        </p:nvCxnSpPr>
        <p:spPr>
          <a:xfrm>
            <a:off x="4857293" y="2834640"/>
            <a:ext cx="274320" cy="0"/>
          </a:xfrm>
          <a:prstGeom prst="line">
            <a:avLst/>
          </a:prstGeom>
          <a:ln w="28575">
            <a:solidFill>
              <a:srgbClr val="704EA6"/>
            </a:solidFill>
            <a:tailEnd type="triangle" w="med" len="med"/>
          </a:ln>
        </p:spPr>
      </p:cxnSp>
      <p:sp>
        <p:nvSpPr>
          <p:cNvPr id="117" name="Shape 117"/>
          <p:cNvSpPr/>
          <p:nvPr/>
        </p:nvSpPr>
        <p:spPr>
          <a:xfrm>
            <a:off x="5177333" y="1783080"/>
            <a:ext cx="1834286" cy="2103120"/>
          </a:xfrm>
          <a:prstGeom prst="roundRect">
            <a:avLst>
              <a:gd name="adj" fmla="val 6000"/>
            </a:avLst>
          </a:prstGeom>
          <a:solidFill>
            <a:srgbClr val="6D28D9"/>
          </a:solidFill>
          <a:ln>
            <a:noFill/>
          </a:ln>
        </p:spPr>
        <p:txBody>
          <a:bodyPr wrap="square" lIns="128016" tIns="146304" rIns="109728" bIns="91440" rtlCol="0" anchor="t">
            <a:noAutofit/>
          </a:bodyPr>
          <a:lstStyle/>
          <a:p>
            <a:pPr marL="0" indent="0" algn="l">
              <a:spcBef>
                <a:spcPts val="0"/>
              </a:spcBef>
              <a:spcAft>
                <a:spcPts val="600"/>
              </a:spcAft>
              <a:buNone/>
            </a:pPr>
            <a:r>
              <a:rPr lang="en-US" sz="1400" b="1" dirty="0">
                <a:solidFill>
                  <a:srgbClr val="E9E1F8"/>
                </a:solidFill>
                <a:latin typeface="Calibri"/>
                <a:cs typeface="Calibri"/>
              </a:rPr>
              <a:t>&lt;12 ms</a:t>
            </a:r>
          </a:p>
          <a:p>
            <a:pPr marL="0" indent="0" algn="l">
              <a:spcBef>
                <a:spcPts val="0"/>
              </a:spcBef>
              <a:spcAft>
                <a:spcPts val="600"/>
              </a:spcAft>
              <a:buNone/>
            </a:pPr>
            <a:r>
              <a:rPr lang="en-US" sz="1800" b="1" dirty="0">
                <a:solidFill>
                  <a:srgbClr val="FFFFFF"/>
                </a:solidFill>
                <a:latin typeface="Calibri"/>
                <a:cs typeface="Calibri"/>
              </a:rPr>
              <a:t>Laya AI Decision Engine</a:t>
            </a:r>
          </a:p>
          <a:p>
            <a:pPr marL="0" indent="0" algn="l">
              <a:spcBef>
                <a:spcPts val="0"/>
              </a:spcBef>
              <a:spcAft>
                <a:spcPts val="0"/>
              </a:spcAft>
              <a:buNone/>
            </a:pPr>
            <a:r>
              <a:rPr lang="en-US" sz="1300" b="0" dirty="0">
                <a:solidFill>
                  <a:srgbClr val="E9E1F8"/>
                </a:solidFill>
                <a:latin typeface="Calibri"/>
                <a:cs typeface="Calibri"/>
              </a:rPr>
              <a:t>Type-safe System-1: domain + issue, typed output only</a:t>
            </a:r>
          </a:p>
        </p:txBody>
      </p:sp>
      <p:cxnSp>
        <p:nvCxnSpPr>
          <p:cNvPr id="118" name="Arrow 118"/>
          <p:cNvCxnSpPr/>
          <p:nvPr/>
        </p:nvCxnSpPr>
        <p:spPr>
          <a:xfrm>
            <a:off x="7057339" y="2834640"/>
            <a:ext cx="274320" cy="0"/>
          </a:xfrm>
          <a:prstGeom prst="line">
            <a:avLst/>
          </a:prstGeom>
          <a:ln w="28575">
            <a:solidFill>
              <a:srgbClr val="704EA6"/>
            </a:solidFill>
            <a:tailEnd type="triangle" w="med" len="med"/>
          </a:ln>
        </p:spPr>
      </p:cxnSp>
      <p:sp>
        <p:nvSpPr>
          <p:cNvPr id="119" name="Shape 119"/>
          <p:cNvSpPr/>
          <p:nvPr/>
        </p:nvSpPr>
        <p:spPr>
          <a:xfrm>
            <a:off x="7377379" y="1783080"/>
            <a:ext cx="1834286" cy="2103120"/>
          </a:xfrm>
          <a:prstGeom prst="roundRect">
            <a:avLst>
              <a:gd name="adj" fmla="val 6000"/>
            </a:avLst>
          </a:prstGeom>
          <a:solidFill>
            <a:srgbClr val="F5F1FB"/>
          </a:solidFill>
          <a:ln w="12700">
            <a:solidFill>
              <a:srgbClr val="D9D3F0"/>
            </a:solidFill>
          </a:ln>
        </p:spPr>
        <p:txBody>
          <a:bodyPr wrap="square" lIns="128016" tIns="146304" rIns="109728" bIns="91440" rtlCol="0" anchor="t">
            <a:noAutofit/>
          </a:bodyPr>
          <a:lstStyle/>
          <a:p>
            <a:pPr marL="0" indent="0" algn="l">
              <a:spcBef>
                <a:spcPts val="0"/>
              </a:spcBef>
              <a:spcAft>
                <a:spcPts val="600"/>
              </a:spcAft>
              <a:buNone/>
            </a:pPr>
            <a:r>
              <a:rPr lang="en-US" sz="1400" b="1" dirty="0">
                <a:solidFill>
                  <a:srgbClr val="6D28D9"/>
                </a:solidFill>
                <a:latin typeface="Calibri"/>
                <a:cs typeface="Calibri"/>
              </a:rPr>
              <a:t>VERIFIED</a:t>
            </a:r>
          </a:p>
          <a:p>
            <a:pPr marL="0" indent="0" algn="l">
              <a:spcBef>
                <a:spcPts val="0"/>
              </a:spcBef>
              <a:spcAft>
                <a:spcPts val="600"/>
              </a:spcAft>
              <a:buNone/>
            </a:pPr>
            <a:r>
              <a:rPr lang="en-US" sz="1800" b="1" dirty="0">
                <a:solidFill>
                  <a:srgbClr val="14142B"/>
                </a:solidFill>
                <a:latin typeface="Calibri"/>
                <a:cs typeface="Calibri"/>
              </a:rPr>
              <a:t>Corpus Search</a:t>
            </a:r>
          </a:p>
          <a:p>
            <a:pPr marL="0" indent="0" algn="l">
              <a:spcBef>
                <a:spcPts val="0"/>
              </a:spcBef>
              <a:spcAft>
                <a:spcPts val="0"/>
              </a:spcAft>
              <a:buNone/>
            </a:pPr>
            <a:r>
              <a:rPr lang="en-US" sz="1300" b="0" dirty="0">
                <a:solidFill>
                  <a:srgbClr val="63637E"/>
                </a:solidFill>
                <a:latin typeface="Calibri"/>
                <a:cs typeface="Calibri"/>
              </a:rPr>
              <a:t>Curated Supabase troubleshooting records</a:t>
            </a:r>
          </a:p>
        </p:txBody>
      </p:sp>
      <p:cxnSp>
        <p:nvCxnSpPr>
          <p:cNvPr id="120" name="Arrow 120"/>
          <p:cNvCxnSpPr/>
          <p:nvPr/>
        </p:nvCxnSpPr>
        <p:spPr>
          <a:xfrm>
            <a:off x="9257386" y="2834640"/>
            <a:ext cx="274320" cy="0"/>
          </a:xfrm>
          <a:prstGeom prst="line">
            <a:avLst/>
          </a:prstGeom>
          <a:ln w="28575">
            <a:solidFill>
              <a:srgbClr val="704EA6"/>
            </a:solidFill>
            <a:tailEnd type="triangle" w="med" len="med"/>
          </a:ln>
        </p:spPr>
      </p:cxnSp>
      <p:sp>
        <p:nvSpPr>
          <p:cNvPr id="121" name="Shape 121"/>
          <p:cNvSpPr/>
          <p:nvPr/>
        </p:nvSpPr>
        <p:spPr>
          <a:xfrm>
            <a:off x="9577426" y="1783080"/>
            <a:ext cx="1834286" cy="2103120"/>
          </a:xfrm>
          <a:prstGeom prst="roundRect">
            <a:avLst>
              <a:gd name="adj" fmla="val 6000"/>
            </a:avLst>
          </a:prstGeom>
          <a:solidFill>
            <a:srgbClr val="F5F1FB"/>
          </a:solidFill>
          <a:ln w="12700">
            <a:solidFill>
              <a:srgbClr val="D9D3F0"/>
            </a:solidFill>
          </a:ln>
        </p:spPr>
        <p:txBody>
          <a:bodyPr wrap="square" lIns="128016" tIns="146304" rIns="109728" bIns="91440" rtlCol="0" anchor="t">
            <a:noAutofit/>
          </a:bodyPr>
          <a:lstStyle/>
          <a:p>
            <a:pPr marL="0" indent="0" algn="l">
              <a:spcBef>
                <a:spcPts val="0"/>
              </a:spcBef>
              <a:spcAft>
                <a:spcPts val="600"/>
              </a:spcAft>
              <a:buNone/>
            </a:pPr>
            <a:r>
              <a:rPr lang="en-US" sz="1400" b="1" dirty="0">
                <a:solidFill>
                  <a:srgbClr val="6D28D9"/>
                </a:solidFill>
                <a:latin typeface="Calibri"/>
                <a:cs typeface="Calibri"/>
              </a:rPr>
              <a:t>OUTPUT</a:t>
            </a:r>
          </a:p>
          <a:p>
            <a:pPr marL="0" indent="0" algn="l">
              <a:spcBef>
                <a:spcPts val="0"/>
              </a:spcBef>
              <a:spcAft>
                <a:spcPts val="600"/>
              </a:spcAft>
              <a:buNone/>
            </a:pPr>
            <a:r>
              <a:rPr lang="en-US" sz="1800" b="1" dirty="0">
                <a:solidFill>
                  <a:srgbClr val="14142B"/>
                </a:solidFill>
                <a:latin typeface="Calibri"/>
                <a:cs typeface="Calibri"/>
              </a:rPr>
              <a:t>Guided Fix</a:t>
            </a:r>
          </a:p>
          <a:p>
            <a:pPr marL="0" indent="0" algn="l">
              <a:spcBef>
                <a:spcPts val="0"/>
              </a:spcBef>
              <a:spcAft>
                <a:spcPts val="0"/>
              </a:spcAft>
              <a:buNone/>
            </a:pPr>
            <a:r>
              <a:rPr lang="en-US" sz="1300" b="0" dirty="0">
                <a:solidFill>
                  <a:srgbClr val="63637E"/>
                </a:solidFill>
                <a:latin typeface="Calibri"/>
                <a:cs typeface="Calibri"/>
              </a:rPr>
              <a:t>3–5 steps + verified action deep-link</a:t>
            </a:r>
          </a:p>
        </p:txBody>
      </p:sp>
      <p:cxnSp>
        <p:nvCxnSpPr>
          <p:cNvPr id="122" name="Arrow 122"/>
          <p:cNvCxnSpPr/>
          <p:nvPr/>
        </p:nvCxnSpPr>
        <p:spPr>
          <a:xfrm>
            <a:off x="10494569" y="3886200"/>
            <a:ext cx="0" cy="640080"/>
          </a:xfrm>
          <a:prstGeom prst="line">
            <a:avLst/>
          </a:prstGeom>
          <a:ln w="28575">
            <a:solidFill>
              <a:srgbClr val="63637E"/>
            </a:solidFill>
            <a:prstDash val="dash"/>
            <a:tailEnd type="triangle" w="med" len="med"/>
          </a:ln>
        </p:spPr>
      </p:cxnSp>
      <p:sp>
        <p:nvSpPr>
          <p:cNvPr id="123" name="Shape 123"/>
          <p:cNvSpPr txBox="1"/>
          <p:nvPr/>
        </p:nvSpPr>
        <p:spPr>
          <a:xfrm>
            <a:off x="10586009" y="4023360"/>
            <a:ext cx="1463040" cy="365760"/>
          </a:xfrm>
          <a:prstGeom prst="roundRect">
            <a:avLst>
              <a:gd name="adj" fmla="val 6000"/>
            </a:avLst>
          </a:prstGeom>
          <a:noFill/>
          <a:ln>
            <a:noFill/>
          </a:ln>
        </p:spPr>
        <p:txBody>
          <a:bodyPr wrap="square" lIns="0" tIns="0" rIns="0" bIns="0" rtlCol="0" anchor="ctr">
            <a:noAutofit/>
          </a:bodyPr>
          <a:lstStyle/>
          <a:p>
            <a:pPr marL="0" indent="0" algn="l">
              <a:spcBef>
                <a:spcPts val="0"/>
              </a:spcBef>
              <a:spcAft>
                <a:spcPts val="0"/>
              </a:spcAft>
              <a:buNone/>
            </a:pPr>
            <a:r>
              <a:rPr lang="en-US" sz="1200" b="0" dirty="0">
                <a:solidFill>
                  <a:srgbClr val="63637E"/>
                </a:solidFill>
                <a:latin typeface="Calibri"/>
                <a:cs typeface="Calibri"/>
              </a:rPr>
              <a:t>if unresolved</a:t>
            </a:r>
          </a:p>
        </p:txBody>
      </p:sp>
      <p:sp>
        <p:nvSpPr>
          <p:cNvPr id="124" name="Shape 124"/>
          <p:cNvSpPr/>
          <p:nvPr/>
        </p:nvSpPr>
        <p:spPr>
          <a:xfrm>
            <a:off x="5177333" y="4526280"/>
            <a:ext cx="6234379" cy="914400"/>
          </a:xfrm>
          <a:prstGeom prst="roundRect">
            <a:avLst>
              <a:gd name="adj" fmla="val 8000"/>
            </a:avLst>
          </a:prstGeom>
          <a:solidFill>
            <a:srgbClr val="FFFFFF"/>
          </a:solidFill>
          <a:ln w="12700">
            <a:solidFill>
              <a:srgbClr val="704EA6"/>
            </a:solidFill>
            <a:prstDash val="dash"/>
          </a:ln>
        </p:spPr>
        <p:txBody>
          <a:bodyPr wrap="square" lIns="228600" tIns="73152" rIns="182880" bIns="73152" rtlCol="0" anchor="ctr">
            <a:noAutofit/>
          </a:bodyPr>
          <a:lstStyle/>
          <a:p>
            <a:pPr marL="0" indent="0" algn="l">
              <a:spcBef>
                <a:spcPts val="0"/>
              </a:spcBef>
              <a:spcAft>
                <a:spcPts val="300"/>
              </a:spcAft>
              <a:buNone/>
            </a:pPr>
            <a:r>
              <a:rPr lang="en-US" sz="1800" b="1" dirty="0">
                <a:solidFill>
                  <a:srgbClr val="14142B"/>
                </a:solidFill>
                <a:latin typeface="Calibri"/>
                <a:cs typeface="Calibri"/>
              </a:rPr>
              <a:t>Fallback: never a dead end</a:t>
            </a:r>
          </a:p>
          <a:p>
            <a:pPr marL="0" indent="0" algn="l">
              <a:spcBef>
                <a:spcPts val="0"/>
              </a:spcBef>
              <a:spcAft>
                <a:spcPts val="0"/>
              </a:spcAft>
              <a:buNone/>
            </a:pPr>
            <a:r>
              <a:rPr lang="en-US" sz="1400" b="0" dirty="0">
                <a:solidFill>
                  <a:srgbClr val="63637E"/>
                </a:solidFill>
                <a:latin typeface="Calibri"/>
                <a:cs typeface="Calibri"/>
              </a:rPr>
              <a:t>Nearest store locator + one-click Compose Email, pre-filled with the diagnosed issue.</a:t>
            </a:r>
          </a:p>
        </p:txBody>
      </p:sp>
      <p:sp>
        <p:nvSpPr>
          <p:cNvPr id="125" name="Shape 125"/>
          <p:cNvSpPr/>
          <p:nvPr/>
        </p:nvSpPr>
        <p:spPr>
          <a:xfrm>
            <a:off x="777240" y="4526280"/>
            <a:ext cx="4080053" cy="914400"/>
          </a:xfrm>
          <a:prstGeom prst="roundRect">
            <a:avLst>
              <a:gd name="adj" fmla="val 8000"/>
            </a:avLst>
          </a:prstGeom>
          <a:solidFill>
            <a:srgbClr val="14142B"/>
          </a:solidFill>
          <a:ln>
            <a:noFill/>
          </a:ln>
        </p:spPr>
        <p:txBody>
          <a:bodyPr wrap="square" lIns="228600" tIns="73152" rIns="182880" bIns="73152" rtlCol="0" anchor="ctr">
            <a:noAutofit/>
          </a:bodyPr>
          <a:lstStyle/>
          <a:p>
            <a:pPr marL="0" indent="0" algn="l">
              <a:spcBef>
                <a:spcPts val="0"/>
              </a:spcBef>
              <a:spcAft>
                <a:spcPts val="200"/>
              </a:spcAft>
              <a:buNone/>
            </a:pPr>
            <a:r>
              <a:rPr lang="en-US" sz="1400" b="1" dirty="0">
                <a:solidFill>
                  <a:srgbClr val="E9E1F8"/>
                </a:solidFill>
                <a:latin typeface="Calibri"/>
                <a:cs typeface="Calibri"/>
              </a:rPr>
              <a:t>Zero-Token Optimization</a:t>
            </a:r>
          </a:p>
          <a:p>
            <a:pPr marL="0" indent="0" algn="l">
              <a:spcBef>
                <a:spcPts val="0"/>
              </a:spcBef>
              <a:spcAft>
                <a:spcPts val="0"/>
              </a:spcAft>
              <a:buNone/>
            </a:pPr>
            <a:r>
              <a:rPr lang="en-US" sz="1800" b="1" dirty="0">
                <a:solidFill>
                  <a:srgbClr val="FFFFFF"/>
                </a:solidFill>
                <a:latin typeface="Calibri"/>
                <a:cs typeface="Calibri"/>
              </a:rPr>
              <a:t>−1,420 tokens  ·  −840 ms per session</a:t>
            </a:r>
          </a:p>
        </p:txBody>
      </p:sp>
      <p:sp>
        <p:nvSpPr>
          <p:cNvPr id="126" name="Shape 126"/>
          <p:cNvSpPr/>
          <p:nvPr/>
        </p:nvSpPr>
        <p:spPr>
          <a:xfrm>
            <a:off x="777240" y="5623560"/>
            <a:ext cx="10634472" cy="548640"/>
          </a:xfrm>
          <a:prstGeom prst="roundRect">
            <a:avLst>
              <a:gd name="adj" fmla="val 30000"/>
            </a:avLst>
          </a:prstGeom>
          <a:solidFill>
            <a:srgbClr val="F5F1FB"/>
          </a:solidFill>
          <a:ln w="12700">
            <a:solidFill>
              <a:srgbClr val="D9D3F0"/>
            </a:solidFill>
          </a:ln>
        </p:spPr>
        <p:txBody>
          <a:bodyPr wrap="square" lIns="137160" tIns="91440" rIns="137160" bIns="91440" rtlCol="0" anchor="ctr">
            <a:noAutofit/>
          </a:bodyPr>
          <a:lstStyle/>
          <a:p>
            <a:pPr marL="0" indent="0" algn="ctr">
              <a:spcBef>
                <a:spcPts val="0"/>
              </a:spcBef>
              <a:spcAft>
                <a:spcPts val="0"/>
              </a:spcAft>
              <a:buNone/>
            </a:pPr>
            <a:r>
              <a:rPr lang="en-US" sz="1600" b="1" dirty="0">
                <a:solidFill>
                  <a:srgbClr val="6D28D9"/>
                </a:solidFill>
                <a:latin typeface="Calibri"/>
                <a:cs typeface="Calibri"/>
              </a:rPr>
              <a:t>Latency budget:  </a:t>
            </a:r>
            <a:r>
              <a:rPr lang="en-US" sz="1600" b="0" dirty="0">
                <a:solidFill>
                  <a:srgbClr val="14142B"/>
                </a:solidFill>
                <a:latin typeface="Calibri"/>
                <a:cs typeface="Calibri"/>
              </a:rPr>
              <a:t>Fast-Gate &lt;1 ms  +  Laya decision &lt;12 ms  +  lookup &amp; render  =  </a:t>
            </a:r>
            <a:r>
              <a:rPr lang="en-US" sz="1600" b="1" dirty="0">
                <a:solidFill>
                  <a:srgbClr val="14142B"/>
                </a:solidFill>
                <a:latin typeface="Calibri"/>
                <a:cs typeface="Calibri"/>
              </a:rPr>
              <a:t>&lt;42 ms end-to-end</a:t>
            </a:r>
          </a:p>
        </p:txBody>
      </p:sp>
    </p:spTree>
    <p:extLst>
      <p:ext uri="{BB962C8B-B14F-4D97-AF65-F5344CB8AC3E}">
        <p14:creationId xmlns:p14="http://schemas.microsoft.com/office/powerpoint/2010/main" val="257978907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IN" b="1" dirty="0">
                <a:solidFill>
                  <a:srgbClr val="704EA6"/>
                </a:solidFill>
                <a:latin typeface="+mn-lt"/>
              </a:rPr>
              <a:t>Demo &amp; Product Walkthrough</a:t>
            </a:r>
          </a:p>
        </p:txBody>
      </p:sp>
      <p:sp>
        <p:nvSpPr>
          <p:cNvPr id="127" name="Shape 127"/>
          <p:cNvSpPr/>
          <p:nvPr/>
        </p:nvSpPr>
        <p:spPr>
          <a:xfrm>
            <a:off x="777240" y="1783080"/>
            <a:ext cx="2452878" cy="2651760"/>
          </a:xfrm>
          <a:prstGeom prst="roundRect">
            <a:avLst>
              <a:gd name="adj" fmla="val 5000"/>
            </a:avLst>
          </a:prstGeom>
          <a:solidFill>
            <a:srgbClr val="F5F1FB"/>
          </a:solidFill>
          <a:ln w="12700">
            <a:solidFill>
              <a:srgbClr val="D9D3F0"/>
            </a:solidFill>
          </a:ln>
        </p:spPr>
        <p:txBody>
          <a:bodyPr wrap="square" lIns="137160" tIns="91440" rIns="137160" bIns="91440" rtlCol="0" anchor="t">
            <a:noAutofit/>
          </a:bodyPr>
          <a:lstStyle/>
          <a:p>
            <a:endParaRPr lang="en-US"/>
          </a:p>
        </p:txBody>
      </p:sp>
      <p:sp>
        <p:nvSpPr>
          <p:cNvPr id="128" name="Shape 128"/>
          <p:cNvSpPr/>
          <p:nvPr/>
        </p:nvSpPr>
        <p:spPr>
          <a:xfrm>
            <a:off x="1005840" y="2011680"/>
            <a:ext cx="548640" cy="548640"/>
          </a:xfrm>
          <a:prstGeom prst="ellipse">
            <a:avLst/>
          </a:prstGeom>
          <a:solidFill>
            <a:srgbClr val="6D28D9"/>
          </a:solidFill>
          <a:ln>
            <a:noFill/>
          </a:ln>
        </p:spPr>
        <p:txBody>
          <a:bodyPr wrap="square" lIns="0" tIns="0" rIns="0" bIns="0" rtlCol="0" anchor="ctr">
            <a:noAutofit/>
          </a:bodyPr>
          <a:lstStyle/>
          <a:p>
            <a:pPr marL="0" indent="0" algn="ctr">
              <a:spcBef>
                <a:spcPts val="0"/>
              </a:spcBef>
              <a:spcAft>
                <a:spcPts val="0"/>
              </a:spcAft>
              <a:buNone/>
            </a:pPr>
            <a:r>
              <a:rPr lang="en-US" sz="2000" b="1" dirty="0">
                <a:solidFill>
                  <a:srgbClr val="FFFFFF"/>
                </a:solidFill>
                <a:latin typeface="Arial"/>
                <a:cs typeface="Arial"/>
              </a:rPr>
              <a:t>1</a:t>
            </a:r>
          </a:p>
        </p:txBody>
      </p:sp>
      <p:sp>
        <p:nvSpPr>
          <p:cNvPr id="129" name="Shape 129"/>
          <p:cNvSpPr txBox="1"/>
          <p:nvPr/>
        </p:nvSpPr>
        <p:spPr>
          <a:xfrm>
            <a:off x="1005840" y="2743200"/>
            <a:ext cx="1995678" cy="1554480"/>
          </a:xfrm>
          <a:prstGeom prst="roundRect">
            <a:avLst>
              <a:gd name="adj" fmla="val 6000"/>
            </a:avLst>
          </a:prstGeom>
          <a:noFill/>
          <a:ln>
            <a:noFill/>
          </a:ln>
        </p:spPr>
        <p:txBody>
          <a:bodyPr wrap="square" lIns="0" tIns="0" rIns="0" bIns="0" rtlCol="0" anchor="t">
            <a:noAutofit/>
          </a:bodyPr>
          <a:lstStyle/>
          <a:p>
            <a:pPr marL="0" indent="0" algn="l">
              <a:spcBef>
                <a:spcPts val="0"/>
              </a:spcBef>
              <a:spcAft>
                <a:spcPts val="600"/>
              </a:spcAft>
              <a:buNone/>
            </a:pPr>
            <a:r>
              <a:rPr lang="en-US" sz="2400" b="1" dirty="0">
                <a:solidFill>
                  <a:srgbClr val="704EA6"/>
                </a:solidFill>
                <a:latin typeface="Calibri"/>
                <a:cs typeface="Calibri"/>
              </a:rPr>
              <a:t>Describe</a:t>
            </a:r>
          </a:p>
          <a:p>
            <a:pPr marL="0" indent="0" algn="l">
              <a:spcBef>
                <a:spcPts val="0"/>
              </a:spcBef>
              <a:spcAft>
                <a:spcPts val="0"/>
              </a:spcAft>
              <a:buNone/>
            </a:pPr>
            <a:r>
              <a:rPr lang="en-US" sz="1700" b="0" dirty="0">
                <a:solidFill>
                  <a:srgbClr val="63637E"/>
                </a:solidFill>
                <a:latin typeface="Calibri"/>
                <a:cs typeface="Calibri"/>
              </a:rPr>
              <a:t>Type the problem in plain words — no menus, no forms.</a:t>
            </a:r>
          </a:p>
        </p:txBody>
      </p:sp>
      <p:sp>
        <p:nvSpPr>
          <p:cNvPr id="130" name="Shape 130"/>
          <p:cNvSpPr/>
          <p:nvPr/>
        </p:nvSpPr>
        <p:spPr>
          <a:xfrm>
            <a:off x="3504438" y="1783080"/>
            <a:ext cx="2452878" cy="2651760"/>
          </a:xfrm>
          <a:prstGeom prst="roundRect">
            <a:avLst>
              <a:gd name="adj" fmla="val 5000"/>
            </a:avLst>
          </a:prstGeom>
          <a:solidFill>
            <a:srgbClr val="F5F1FB"/>
          </a:solidFill>
          <a:ln w="12700">
            <a:solidFill>
              <a:srgbClr val="D9D3F0"/>
            </a:solidFill>
          </a:ln>
        </p:spPr>
        <p:txBody>
          <a:bodyPr wrap="square" lIns="137160" tIns="91440" rIns="137160" bIns="91440" rtlCol="0" anchor="t">
            <a:noAutofit/>
          </a:bodyPr>
          <a:lstStyle/>
          <a:p>
            <a:endParaRPr lang="en-US"/>
          </a:p>
        </p:txBody>
      </p:sp>
      <p:sp>
        <p:nvSpPr>
          <p:cNvPr id="131" name="Shape 131"/>
          <p:cNvSpPr/>
          <p:nvPr/>
        </p:nvSpPr>
        <p:spPr>
          <a:xfrm>
            <a:off x="3733038" y="2011680"/>
            <a:ext cx="548640" cy="548640"/>
          </a:xfrm>
          <a:prstGeom prst="ellipse">
            <a:avLst/>
          </a:prstGeom>
          <a:solidFill>
            <a:srgbClr val="6D28D9"/>
          </a:solidFill>
          <a:ln>
            <a:noFill/>
          </a:ln>
        </p:spPr>
        <p:txBody>
          <a:bodyPr wrap="square" lIns="0" tIns="0" rIns="0" bIns="0" rtlCol="0" anchor="ctr">
            <a:noAutofit/>
          </a:bodyPr>
          <a:lstStyle/>
          <a:p>
            <a:pPr marL="0" indent="0" algn="ctr">
              <a:spcBef>
                <a:spcPts val="0"/>
              </a:spcBef>
              <a:spcAft>
                <a:spcPts val="0"/>
              </a:spcAft>
              <a:buNone/>
            </a:pPr>
            <a:r>
              <a:rPr lang="en-US" sz="2000" b="1" dirty="0">
                <a:solidFill>
                  <a:srgbClr val="FFFFFF"/>
                </a:solidFill>
                <a:latin typeface="Arial"/>
                <a:cs typeface="Arial"/>
              </a:rPr>
              <a:t>2</a:t>
            </a:r>
          </a:p>
        </p:txBody>
      </p:sp>
      <p:sp>
        <p:nvSpPr>
          <p:cNvPr id="132" name="Shape 132"/>
          <p:cNvSpPr txBox="1"/>
          <p:nvPr/>
        </p:nvSpPr>
        <p:spPr>
          <a:xfrm>
            <a:off x="3733038" y="2743200"/>
            <a:ext cx="1995678" cy="1554480"/>
          </a:xfrm>
          <a:prstGeom prst="roundRect">
            <a:avLst>
              <a:gd name="adj" fmla="val 6000"/>
            </a:avLst>
          </a:prstGeom>
          <a:noFill/>
          <a:ln>
            <a:noFill/>
          </a:ln>
        </p:spPr>
        <p:txBody>
          <a:bodyPr wrap="square" lIns="0" tIns="0" rIns="0" bIns="0" rtlCol="0" anchor="t">
            <a:noAutofit/>
          </a:bodyPr>
          <a:lstStyle/>
          <a:p>
            <a:pPr marL="0" indent="0" algn="l">
              <a:spcBef>
                <a:spcPts val="0"/>
              </a:spcBef>
              <a:spcAft>
                <a:spcPts val="600"/>
              </a:spcAft>
              <a:buNone/>
            </a:pPr>
            <a:r>
              <a:rPr lang="en-US" sz="2400" b="1" dirty="0">
                <a:solidFill>
                  <a:srgbClr val="704EA6"/>
                </a:solidFill>
                <a:latin typeface="Calibri"/>
                <a:cs typeface="Calibri"/>
              </a:rPr>
              <a:t>Decide</a:t>
            </a:r>
          </a:p>
          <a:p>
            <a:pPr marL="0" indent="0" algn="l">
              <a:spcBef>
                <a:spcPts val="0"/>
              </a:spcBef>
              <a:spcAft>
                <a:spcPts val="0"/>
              </a:spcAft>
              <a:buNone/>
            </a:pPr>
            <a:r>
              <a:rPr lang="en-US" sz="1700" b="0" dirty="0">
                <a:solidFill>
                  <a:srgbClr val="63637E"/>
                </a:solidFill>
                <a:latin typeface="Calibri"/>
                <a:cs typeface="Calibri"/>
              </a:rPr>
              <a:t>Fast-Gate + Laya classify domain and issue in &lt;12 ms.</a:t>
            </a:r>
          </a:p>
        </p:txBody>
      </p:sp>
      <p:sp>
        <p:nvSpPr>
          <p:cNvPr id="133" name="Shape 133"/>
          <p:cNvSpPr/>
          <p:nvPr/>
        </p:nvSpPr>
        <p:spPr>
          <a:xfrm>
            <a:off x="6231636" y="1783080"/>
            <a:ext cx="2452878" cy="2651760"/>
          </a:xfrm>
          <a:prstGeom prst="roundRect">
            <a:avLst>
              <a:gd name="adj" fmla="val 5000"/>
            </a:avLst>
          </a:prstGeom>
          <a:solidFill>
            <a:srgbClr val="F5F1FB"/>
          </a:solidFill>
          <a:ln w="12700">
            <a:solidFill>
              <a:srgbClr val="D9D3F0"/>
            </a:solidFill>
          </a:ln>
        </p:spPr>
        <p:txBody>
          <a:bodyPr wrap="square" lIns="137160" tIns="91440" rIns="137160" bIns="91440" rtlCol="0" anchor="t">
            <a:noAutofit/>
          </a:bodyPr>
          <a:lstStyle/>
          <a:p>
            <a:endParaRPr lang="en-US"/>
          </a:p>
        </p:txBody>
      </p:sp>
      <p:sp>
        <p:nvSpPr>
          <p:cNvPr id="134" name="Shape 134"/>
          <p:cNvSpPr/>
          <p:nvPr/>
        </p:nvSpPr>
        <p:spPr>
          <a:xfrm>
            <a:off x="6460236" y="2011680"/>
            <a:ext cx="548640" cy="548640"/>
          </a:xfrm>
          <a:prstGeom prst="ellipse">
            <a:avLst/>
          </a:prstGeom>
          <a:solidFill>
            <a:srgbClr val="6D28D9"/>
          </a:solidFill>
          <a:ln>
            <a:noFill/>
          </a:ln>
        </p:spPr>
        <p:txBody>
          <a:bodyPr wrap="square" lIns="0" tIns="0" rIns="0" bIns="0" rtlCol="0" anchor="ctr">
            <a:noAutofit/>
          </a:bodyPr>
          <a:lstStyle/>
          <a:p>
            <a:pPr marL="0" indent="0" algn="ctr">
              <a:spcBef>
                <a:spcPts val="0"/>
              </a:spcBef>
              <a:spcAft>
                <a:spcPts val="0"/>
              </a:spcAft>
              <a:buNone/>
            </a:pPr>
            <a:r>
              <a:rPr lang="en-US" sz="2000" b="1" dirty="0">
                <a:solidFill>
                  <a:srgbClr val="FFFFFF"/>
                </a:solidFill>
                <a:latin typeface="Arial"/>
                <a:cs typeface="Arial"/>
              </a:rPr>
              <a:t>3</a:t>
            </a:r>
          </a:p>
        </p:txBody>
      </p:sp>
      <p:sp>
        <p:nvSpPr>
          <p:cNvPr id="135" name="Shape 135"/>
          <p:cNvSpPr txBox="1"/>
          <p:nvPr/>
        </p:nvSpPr>
        <p:spPr>
          <a:xfrm>
            <a:off x="6460236" y="2743200"/>
            <a:ext cx="1995678" cy="1554480"/>
          </a:xfrm>
          <a:prstGeom prst="roundRect">
            <a:avLst>
              <a:gd name="adj" fmla="val 6000"/>
            </a:avLst>
          </a:prstGeom>
          <a:noFill/>
          <a:ln>
            <a:noFill/>
          </a:ln>
        </p:spPr>
        <p:txBody>
          <a:bodyPr wrap="square" lIns="0" tIns="0" rIns="0" bIns="0" rtlCol="0" anchor="t">
            <a:noAutofit/>
          </a:bodyPr>
          <a:lstStyle/>
          <a:p>
            <a:pPr marL="0" indent="0" algn="l">
              <a:spcBef>
                <a:spcPts val="0"/>
              </a:spcBef>
              <a:spcAft>
                <a:spcPts val="600"/>
              </a:spcAft>
              <a:buNone/>
            </a:pPr>
            <a:r>
              <a:rPr lang="en-US" sz="2400" b="1" dirty="0">
                <a:solidFill>
                  <a:srgbClr val="704EA6"/>
                </a:solidFill>
                <a:latin typeface="Calibri"/>
                <a:cs typeface="Calibri"/>
              </a:rPr>
              <a:t>Guide</a:t>
            </a:r>
          </a:p>
          <a:p>
            <a:pPr marL="0" indent="0" algn="l">
              <a:spcBef>
                <a:spcPts val="0"/>
              </a:spcBef>
              <a:spcAft>
                <a:spcPts val="0"/>
              </a:spcAft>
              <a:buNone/>
            </a:pPr>
            <a:r>
              <a:rPr lang="en-US" sz="1700" b="0" dirty="0">
                <a:solidFill>
                  <a:srgbClr val="63637E"/>
                </a:solidFill>
                <a:latin typeface="Calibri"/>
                <a:cs typeface="Calibri"/>
              </a:rPr>
              <a:t>3–5 verified steps plus a one-tap action button.</a:t>
            </a:r>
          </a:p>
        </p:txBody>
      </p:sp>
      <p:sp>
        <p:nvSpPr>
          <p:cNvPr id="136" name="Shape 136"/>
          <p:cNvSpPr/>
          <p:nvPr/>
        </p:nvSpPr>
        <p:spPr>
          <a:xfrm>
            <a:off x="8958834" y="1783080"/>
            <a:ext cx="2452878" cy="2651760"/>
          </a:xfrm>
          <a:prstGeom prst="roundRect">
            <a:avLst>
              <a:gd name="adj" fmla="val 5000"/>
            </a:avLst>
          </a:prstGeom>
          <a:solidFill>
            <a:srgbClr val="F5F1FB"/>
          </a:solidFill>
          <a:ln w="12700">
            <a:solidFill>
              <a:srgbClr val="D9D3F0"/>
            </a:solidFill>
          </a:ln>
        </p:spPr>
        <p:txBody>
          <a:bodyPr wrap="square" lIns="137160" tIns="91440" rIns="137160" bIns="91440" rtlCol="0" anchor="t">
            <a:noAutofit/>
          </a:bodyPr>
          <a:lstStyle/>
          <a:p>
            <a:endParaRPr lang="en-US"/>
          </a:p>
        </p:txBody>
      </p:sp>
      <p:sp>
        <p:nvSpPr>
          <p:cNvPr id="137" name="Shape 137"/>
          <p:cNvSpPr/>
          <p:nvPr/>
        </p:nvSpPr>
        <p:spPr>
          <a:xfrm>
            <a:off x="9187434" y="2011680"/>
            <a:ext cx="548640" cy="548640"/>
          </a:xfrm>
          <a:prstGeom prst="ellipse">
            <a:avLst/>
          </a:prstGeom>
          <a:solidFill>
            <a:srgbClr val="6D28D9"/>
          </a:solidFill>
          <a:ln>
            <a:noFill/>
          </a:ln>
        </p:spPr>
        <p:txBody>
          <a:bodyPr wrap="square" lIns="0" tIns="0" rIns="0" bIns="0" rtlCol="0" anchor="ctr">
            <a:noAutofit/>
          </a:bodyPr>
          <a:lstStyle/>
          <a:p>
            <a:pPr marL="0" indent="0" algn="ctr">
              <a:spcBef>
                <a:spcPts val="0"/>
              </a:spcBef>
              <a:spcAft>
                <a:spcPts val="0"/>
              </a:spcAft>
              <a:buNone/>
            </a:pPr>
            <a:r>
              <a:rPr lang="en-US" sz="2000" b="1" dirty="0">
                <a:solidFill>
                  <a:srgbClr val="FFFFFF"/>
                </a:solidFill>
                <a:latin typeface="Arial"/>
                <a:cs typeface="Arial"/>
              </a:rPr>
              <a:t>4</a:t>
            </a:r>
          </a:p>
        </p:txBody>
      </p:sp>
      <p:sp>
        <p:nvSpPr>
          <p:cNvPr id="138" name="Shape 138"/>
          <p:cNvSpPr txBox="1"/>
          <p:nvPr/>
        </p:nvSpPr>
        <p:spPr>
          <a:xfrm>
            <a:off x="9187434" y="2743200"/>
            <a:ext cx="1995678" cy="1554480"/>
          </a:xfrm>
          <a:prstGeom prst="roundRect">
            <a:avLst>
              <a:gd name="adj" fmla="val 6000"/>
            </a:avLst>
          </a:prstGeom>
          <a:noFill/>
          <a:ln>
            <a:noFill/>
          </a:ln>
        </p:spPr>
        <p:txBody>
          <a:bodyPr wrap="square" lIns="0" tIns="0" rIns="0" bIns="0" rtlCol="0" anchor="t">
            <a:noAutofit/>
          </a:bodyPr>
          <a:lstStyle/>
          <a:p>
            <a:pPr marL="0" indent="0" algn="l">
              <a:spcBef>
                <a:spcPts val="0"/>
              </a:spcBef>
              <a:spcAft>
                <a:spcPts val="600"/>
              </a:spcAft>
              <a:buNone/>
            </a:pPr>
            <a:r>
              <a:rPr lang="en-US" sz="2400" b="1" dirty="0">
                <a:solidFill>
                  <a:srgbClr val="704EA6"/>
                </a:solidFill>
                <a:latin typeface="Calibri"/>
                <a:cs typeface="Calibri"/>
              </a:rPr>
              <a:t>Escalate</a:t>
            </a:r>
          </a:p>
          <a:p>
            <a:pPr marL="0" indent="0" algn="l">
              <a:spcBef>
                <a:spcPts val="0"/>
              </a:spcBef>
              <a:spcAft>
                <a:spcPts val="0"/>
              </a:spcAft>
              <a:buNone/>
            </a:pPr>
            <a:r>
              <a:rPr lang="en-US" sz="1700" b="0" dirty="0">
                <a:solidFill>
                  <a:srgbClr val="63637E"/>
                </a:solidFill>
                <a:latin typeface="Calibri"/>
                <a:cs typeface="Calibri"/>
              </a:rPr>
              <a:t>Still stuck? Nearest store locator and a pre-drafted email.</a:t>
            </a:r>
          </a:p>
        </p:txBody>
      </p:sp>
      <p:sp>
        <p:nvSpPr>
          <p:cNvPr id="139" name="Shape 139"/>
          <p:cNvSpPr/>
          <p:nvPr/>
        </p:nvSpPr>
        <p:spPr>
          <a:xfrm>
            <a:off x="777240" y="4709160"/>
            <a:ext cx="10634472" cy="1371600"/>
          </a:xfrm>
          <a:prstGeom prst="roundRect">
            <a:avLst>
              <a:gd name="adj" fmla="val 8000"/>
            </a:avLst>
          </a:prstGeom>
          <a:solidFill>
            <a:srgbClr val="14142B"/>
          </a:solidFill>
          <a:ln>
            <a:noFill/>
          </a:ln>
        </p:spPr>
        <p:txBody>
          <a:bodyPr wrap="square" lIns="320040" tIns="91440" rIns="274320" bIns="91440" rtlCol="0" anchor="ctr">
            <a:noAutofit/>
          </a:bodyPr>
          <a:lstStyle/>
          <a:p>
            <a:pPr marL="0" indent="0" algn="l">
              <a:spcBef>
                <a:spcPts val="0"/>
              </a:spcBef>
              <a:spcAft>
                <a:spcPts val="400"/>
              </a:spcAft>
              <a:buNone/>
            </a:pPr>
            <a:r>
              <a:rPr lang="en-US" sz="1300" b="1" dirty="0">
                <a:solidFill>
                  <a:srgbClr val="E9E1F8"/>
                </a:solidFill>
                <a:latin typeface="Calibri"/>
                <a:cs typeface="Calibri"/>
              </a:rPr>
              <a:t>SAMPLE RUN (illustrative)</a:t>
            </a:r>
          </a:p>
          <a:p>
            <a:pPr marL="0" indent="0" algn="l">
              <a:spcBef>
                <a:spcPts val="0"/>
              </a:spcBef>
              <a:spcAft>
                <a:spcPts val="200"/>
              </a:spcAft>
              <a:buNone/>
            </a:pPr>
            <a:r>
              <a:rPr lang="en-US" sz="1800" b="1" dirty="0">
                <a:solidFill>
                  <a:srgbClr val="FFFFFF"/>
                </a:solidFill>
                <a:latin typeface="Calibri"/>
                <a:cs typeface="Calibri"/>
              </a:rPr>
              <a:t>“My phone battery drains overnight”</a:t>
            </a:r>
            <a:r>
              <a:rPr lang="en-US" sz="1800" b="0" dirty="0">
                <a:solidFill>
                  <a:srgbClr val="FFFFFF"/>
                </a:solidFill>
                <a:latin typeface="Calibri"/>
                <a:cs typeface="Calibri"/>
              </a:rPr>
              <a:t>   →   Laya decision: Battery › Fast drain</a:t>
            </a:r>
          </a:p>
          <a:p>
            <a:pPr marL="0" indent="0" algn="l">
              <a:spcBef>
                <a:spcPts val="0"/>
              </a:spcBef>
              <a:spcAft>
                <a:spcPts val="0"/>
              </a:spcAft>
              <a:buNone/>
            </a:pPr>
            <a:r>
              <a:rPr lang="en-US" sz="1800" b="0" dirty="0">
                <a:solidFill>
                  <a:srgbClr val="FFFFFF"/>
                </a:solidFill>
                <a:latin typeface="Calibri"/>
                <a:cs typeface="Calibri"/>
              </a:rPr>
              <a:t>→   Verified steps + battery-settings deep-link   →   </a:t>
            </a:r>
            <a:r>
              <a:rPr lang="en-US" sz="1800" b="1" dirty="0">
                <a:solidFill>
                  <a:srgbClr val="FFFFFF"/>
                </a:solidFill>
                <a:latin typeface="Calibri"/>
                <a:cs typeface="Calibri"/>
              </a:rPr>
              <a:t>&lt;42 ms</a:t>
            </a:r>
          </a:p>
        </p:txBody>
      </p:sp>
    </p:spTree>
    <p:extLst>
      <p:ext uri="{BB962C8B-B14F-4D97-AF65-F5344CB8AC3E}">
        <p14:creationId xmlns:p14="http://schemas.microsoft.com/office/powerpoint/2010/main" val="11782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Tools and tech stack used</a:t>
            </a:r>
            <a:endParaRPr lang="en-IN" b="1" dirty="0">
              <a:solidFill>
                <a:srgbClr val="704EA6"/>
              </a:solidFill>
            </a:endParaRPr>
          </a:p>
        </p:txBody>
      </p:sp>
      <p:sp>
        <p:nvSpPr>
          <p:cNvPr id="140" name="Shape 140"/>
          <p:cNvSpPr/>
          <p:nvPr/>
        </p:nvSpPr>
        <p:spPr>
          <a:xfrm>
            <a:off x="777240" y="1783080"/>
            <a:ext cx="3361944" cy="1920240"/>
          </a:xfrm>
          <a:prstGeom prst="roundRect">
            <a:avLst>
              <a:gd name="adj" fmla="val 5000"/>
            </a:avLst>
          </a:prstGeom>
          <a:solidFill>
            <a:srgbClr val="6D28D9"/>
          </a:solidFill>
          <a:ln>
            <a:noFill/>
          </a:ln>
        </p:spPr>
        <p:txBody>
          <a:bodyPr wrap="square" lIns="201168" tIns="164592" rIns="182880" bIns="91440" rtlCol="0" anchor="t">
            <a:noAutofit/>
          </a:bodyPr>
          <a:lstStyle/>
          <a:p>
            <a:pPr marL="0" indent="0" algn="l">
              <a:spcBef>
                <a:spcPts val="0"/>
              </a:spcBef>
              <a:spcAft>
                <a:spcPts val="500"/>
              </a:spcAft>
              <a:buNone/>
            </a:pPr>
            <a:r>
              <a:rPr lang="en-US" sz="1300" b="1" dirty="0">
                <a:solidFill>
                  <a:srgbClr val="E9E1F8"/>
                </a:solidFill>
                <a:latin typeface="Calibri"/>
                <a:cs typeface="Calibri"/>
              </a:rPr>
              <a:t>DECISION ENGINE</a:t>
            </a:r>
          </a:p>
          <a:p>
            <a:pPr marL="0" indent="0" algn="l">
              <a:spcBef>
                <a:spcPts val="0"/>
              </a:spcBef>
              <a:spcAft>
                <a:spcPts val="600"/>
              </a:spcAft>
              <a:buNone/>
            </a:pPr>
            <a:r>
              <a:rPr lang="en-US" sz="2400" b="1" dirty="0">
                <a:solidFill>
                  <a:srgbClr val="FFFFFF"/>
                </a:solidFill>
                <a:latin typeface="Calibri"/>
                <a:cs typeface="Calibri"/>
              </a:rPr>
              <a:t>Laya AI v0.3.20</a:t>
            </a:r>
          </a:p>
          <a:p>
            <a:pPr marL="0" indent="0" algn="l">
              <a:spcBef>
                <a:spcPts val="0"/>
              </a:spcBef>
              <a:spcAft>
                <a:spcPts val="0"/>
              </a:spcAft>
              <a:buNone/>
            </a:pPr>
            <a:r>
              <a:rPr lang="en-US" sz="1600" b="0" dirty="0">
                <a:solidFill>
                  <a:srgbClr val="E9E1F8"/>
                </a:solidFill>
                <a:latin typeface="Calibri"/>
                <a:cs typeface="Calibri"/>
              </a:rPr>
              <a:t>Type-safe System-1 engine (convaiinnovations/laya). Typed categorical output, no free text.</a:t>
            </a:r>
          </a:p>
        </p:txBody>
      </p:sp>
      <p:sp>
        <p:nvSpPr>
          <p:cNvPr id="141" name="Shape 141"/>
          <p:cNvSpPr/>
          <p:nvPr/>
        </p:nvSpPr>
        <p:spPr>
          <a:xfrm>
            <a:off x="4413504" y="1783080"/>
            <a:ext cx="3361944" cy="1920240"/>
          </a:xfrm>
          <a:prstGeom prst="roundRect">
            <a:avLst>
              <a:gd name="adj" fmla="val 5000"/>
            </a:avLst>
          </a:prstGeom>
          <a:solidFill>
            <a:srgbClr val="F5F1FB"/>
          </a:solidFill>
          <a:ln w="12700">
            <a:solidFill>
              <a:srgbClr val="D9D3F0"/>
            </a:solidFill>
          </a:ln>
        </p:spPr>
        <p:txBody>
          <a:bodyPr wrap="square" lIns="201168" tIns="164592" rIns="182880" bIns="91440" rtlCol="0" anchor="t">
            <a:noAutofit/>
          </a:bodyPr>
          <a:lstStyle/>
          <a:p>
            <a:pPr marL="0" indent="0" algn="l">
              <a:spcBef>
                <a:spcPts val="0"/>
              </a:spcBef>
              <a:spcAft>
                <a:spcPts val="500"/>
              </a:spcAft>
              <a:buNone/>
            </a:pPr>
            <a:r>
              <a:rPr lang="en-US" sz="1300" b="1" dirty="0">
                <a:solidFill>
                  <a:srgbClr val="6D28D9"/>
                </a:solidFill>
                <a:latin typeface="Calibri"/>
                <a:cs typeface="Calibri"/>
              </a:rPr>
              <a:t>RETRIEVAL</a:t>
            </a:r>
          </a:p>
          <a:p>
            <a:pPr marL="0" indent="0" algn="l">
              <a:spcBef>
                <a:spcPts val="0"/>
              </a:spcBef>
              <a:spcAft>
                <a:spcPts val="600"/>
              </a:spcAft>
              <a:buNone/>
            </a:pPr>
            <a:r>
              <a:rPr lang="en-US" sz="2400" b="1" dirty="0">
                <a:solidFill>
                  <a:srgbClr val="704EA6"/>
                </a:solidFill>
                <a:latin typeface="Calibri"/>
                <a:cs typeface="Calibri"/>
              </a:rPr>
              <a:t>Hybrid RAG pipeline</a:t>
            </a:r>
          </a:p>
          <a:p>
            <a:pPr marL="0" indent="0" algn="l">
              <a:spcBef>
                <a:spcPts val="0"/>
              </a:spcBef>
              <a:spcAft>
                <a:spcPts val="0"/>
              </a:spcAft>
              <a:buNone/>
            </a:pPr>
            <a:r>
              <a:rPr lang="en-US" sz="1600" b="0" dirty="0">
                <a:solidFill>
                  <a:srgbClr val="63637E"/>
                </a:solidFill>
                <a:latin typeface="Calibri"/>
                <a:cs typeface="Calibri"/>
              </a:rPr>
              <a:t>Deterministic fast-gate plus verified corpus search over curated records.</a:t>
            </a:r>
          </a:p>
        </p:txBody>
      </p:sp>
      <p:sp>
        <p:nvSpPr>
          <p:cNvPr id="142" name="Shape 142"/>
          <p:cNvSpPr/>
          <p:nvPr/>
        </p:nvSpPr>
        <p:spPr>
          <a:xfrm>
            <a:off x="8049768" y="1783080"/>
            <a:ext cx="3361944" cy="1920240"/>
          </a:xfrm>
          <a:prstGeom prst="roundRect">
            <a:avLst>
              <a:gd name="adj" fmla="val 5000"/>
            </a:avLst>
          </a:prstGeom>
          <a:solidFill>
            <a:srgbClr val="F5F1FB"/>
          </a:solidFill>
          <a:ln w="12700">
            <a:solidFill>
              <a:srgbClr val="D9D3F0"/>
            </a:solidFill>
          </a:ln>
        </p:spPr>
        <p:txBody>
          <a:bodyPr wrap="square" lIns="201168" tIns="164592" rIns="182880" bIns="91440" rtlCol="0" anchor="t">
            <a:noAutofit/>
          </a:bodyPr>
          <a:lstStyle/>
          <a:p>
            <a:pPr marL="0" indent="0" algn="l">
              <a:spcBef>
                <a:spcPts val="0"/>
              </a:spcBef>
              <a:spcAft>
                <a:spcPts val="500"/>
              </a:spcAft>
              <a:buNone/>
            </a:pPr>
            <a:r>
              <a:rPr lang="en-US" sz="1300" b="1" dirty="0">
                <a:solidFill>
                  <a:srgbClr val="6D28D9"/>
                </a:solidFill>
                <a:latin typeface="Calibri"/>
                <a:cs typeface="Calibri"/>
              </a:rPr>
              <a:t>DATA</a:t>
            </a:r>
          </a:p>
          <a:p>
            <a:pPr marL="0" indent="0" algn="l">
              <a:spcBef>
                <a:spcPts val="0"/>
              </a:spcBef>
              <a:spcAft>
                <a:spcPts val="600"/>
              </a:spcAft>
              <a:buNone/>
            </a:pPr>
            <a:r>
              <a:rPr lang="en-US" sz="2400" b="1" dirty="0">
                <a:solidFill>
                  <a:srgbClr val="704EA6"/>
                </a:solidFill>
                <a:latin typeface="Calibri"/>
                <a:cs typeface="Calibri"/>
              </a:rPr>
              <a:t>Supabase PostgreSQL</a:t>
            </a:r>
          </a:p>
          <a:p>
            <a:pPr marL="0" indent="0" algn="l">
              <a:spcBef>
                <a:spcPts val="0"/>
              </a:spcBef>
              <a:spcAft>
                <a:spcPts val="0"/>
              </a:spcAft>
              <a:buNone/>
            </a:pPr>
            <a:r>
              <a:rPr lang="en-US" sz="1600" b="0" dirty="0">
                <a:solidFill>
                  <a:srgbClr val="63637E"/>
                </a:solidFill>
                <a:latin typeface="Calibri"/>
                <a:cs typeface="Calibri"/>
              </a:rPr>
              <a:t>Curated troubleshooting table: Battery, Display, Camera, Performance.</a:t>
            </a:r>
          </a:p>
        </p:txBody>
      </p:sp>
      <p:sp>
        <p:nvSpPr>
          <p:cNvPr id="143" name="Shape 143"/>
          <p:cNvSpPr/>
          <p:nvPr/>
        </p:nvSpPr>
        <p:spPr>
          <a:xfrm>
            <a:off x="777240" y="3931920"/>
            <a:ext cx="3361944" cy="1920240"/>
          </a:xfrm>
          <a:prstGeom prst="roundRect">
            <a:avLst>
              <a:gd name="adj" fmla="val 5000"/>
            </a:avLst>
          </a:prstGeom>
          <a:solidFill>
            <a:srgbClr val="F5F1FB"/>
          </a:solidFill>
          <a:ln w="12700">
            <a:solidFill>
              <a:srgbClr val="D9D3F0"/>
            </a:solidFill>
          </a:ln>
        </p:spPr>
        <p:txBody>
          <a:bodyPr wrap="square" lIns="201168" tIns="164592" rIns="182880" bIns="91440" rtlCol="0" anchor="t">
            <a:noAutofit/>
          </a:bodyPr>
          <a:lstStyle/>
          <a:p>
            <a:pPr marL="0" indent="0" algn="l">
              <a:spcBef>
                <a:spcPts val="0"/>
              </a:spcBef>
              <a:spcAft>
                <a:spcPts val="500"/>
              </a:spcAft>
              <a:buNone/>
            </a:pPr>
            <a:r>
              <a:rPr lang="en-US" sz="1300" b="1" dirty="0">
                <a:solidFill>
                  <a:srgbClr val="6D28D9"/>
                </a:solidFill>
                <a:latin typeface="Calibri"/>
                <a:cs typeface="Calibri"/>
              </a:rPr>
              <a:t>BACKEND</a:t>
            </a:r>
          </a:p>
          <a:p>
            <a:pPr marL="0" indent="0" algn="l">
              <a:spcBef>
                <a:spcPts val="0"/>
              </a:spcBef>
              <a:spcAft>
                <a:spcPts val="600"/>
              </a:spcAft>
              <a:buNone/>
            </a:pPr>
            <a:r>
              <a:rPr lang="en-US" sz="2400" b="1" dirty="0">
                <a:solidFill>
                  <a:srgbClr val="704EA6"/>
                </a:solidFill>
                <a:latin typeface="Calibri"/>
                <a:cs typeface="Calibri"/>
              </a:rPr>
              <a:t>Python + FastAPI</a:t>
            </a:r>
          </a:p>
          <a:p>
            <a:pPr marL="0" indent="0" algn="l">
              <a:spcBef>
                <a:spcPts val="0"/>
              </a:spcBef>
              <a:spcAft>
                <a:spcPts val="0"/>
              </a:spcAft>
              <a:buNone/>
            </a:pPr>
            <a:r>
              <a:rPr lang="en-US" sz="1600" b="0" dirty="0">
                <a:solidFill>
                  <a:srgbClr val="63637E"/>
                </a:solidFill>
                <a:latin typeface="Calibri"/>
                <a:cs typeface="Calibri"/>
              </a:rPr>
              <a:t>Lightweight API with Pydantic validation end to end.</a:t>
            </a:r>
          </a:p>
        </p:txBody>
      </p:sp>
      <p:sp>
        <p:nvSpPr>
          <p:cNvPr id="144" name="Shape 144"/>
          <p:cNvSpPr/>
          <p:nvPr/>
        </p:nvSpPr>
        <p:spPr>
          <a:xfrm>
            <a:off x="4413504" y="3931920"/>
            <a:ext cx="3361944" cy="1920240"/>
          </a:xfrm>
          <a:prstGeom prst="roundRect">
            <a:avLst>
              <a:gd name="adj" fmla="val 5000"/>
            </a:avLst>
          </a:prstGeom>
          <a:solidFill>
            <a:srgbClr val="F5F1FB"/>
          </a:solidFill>
          <a:ln w="12700">
            <a:solidFill>
              <a:srgbClr val="D9D3F0"/>
            </a:solidFill>
          </a:ln>
        </p:spPr>
        <p:txBody>
          <a:bodyPr wrap="square" lIns="201168" tIns="164592" rIns="182880" bIns="91440" rtlCol="0" anchor="t">
            <a:noAutofit/>
          </a:bodyPr>
          <a:lstStyle/>
          <a:p>
            <a:pPr marL="0" indent="0" algn="l">
              <a:spcBef>
                <a:spcPts val="0"/>
              </a:spcBef>
              <a:spcAft>
                <a:spcPts val="500"/>
              </a:spcAft>
              <a:buNone/>
            </a:pPr>
            <a:r>
              <a:rPr lang="en-US" sz="1300" b="1" dirty="0">
                <a:solidFill>
                  <a:srgbClr val="6D28D9"/>
                </a:solidFill>
                <a:latin typeface="Calibri"/>
                <a:cs typeface="Calibri"/>
              </a:rPr>
              <a:t>FRONTEND</a:t>
            </a:r>
          </a:p>
          <a:p>
            <a:pPr marL="0" indent="0" algn="l">
              <a:spcBef>
                <a:spcPts val="0"/>
              </a:spcBef>
              <a:spcAft>
                <a:spcPts val="600"/>
              </a:spcAft>
              <a:buNone/>
            </a:pPr>
            <a:r>
              <a:rPr lang="en-US" sz="2400" b="1" dirty="0">
                <a:solidFill>
                  <a:srgbClr val="704EA6"/>
                </a:solidFill>
                <a:latin typeface="Calibri"/>
                <a:cs typeface="Calibri"/>
              </a:rPr>
              <a:t>React + Vite + Tailwind</a:t>
            </a:r>
          </a:p>
          <a:p>
            <a:pPr marL="0" indent="0" algn="l">
              <a:spcBef>
                <a:spcPts val="0"/>
              </a:spcBef>
              <a:spcAft>
                <a:spcPts val="0"/>
              </a:spcAft>
              <a:buNone/>
            </a:pPr>
            <a:r>
              <a:rPr lang="en-US" sz="1600" b="0" dirty="0">
                <a:solidFill>
                  <a:srgbClr val="63637E"/>
                </a:solidFill>
                <a:latin typeface="Calibri"/>
                <a:cs typeface="Calibri"/>
              </a:rPr>
              <a:t>Instant, responsive guided-steps interface.</a:t>
            </a:r>
          </a:p>
        </p:txBody>
      </p:sp>
      <p:sp>
        <p:nvSpPr>
          <p:cNvPr id="145" name="Shape 145"/>
          <p:cNvSpPr/>
          <p:nvPr/>
        </p:nvSpPr>
        <p:spPr>
          <a:xfrm>
            <a:off x="8049768" y="3931920"/>
            <a:ext cx="3361944" cy="1920240"/>
          </a:xfrm>
          <a:prstGeom prst="roundRect">
            <a:avLst>
              <a:gd name="adj" fmla="val 5000"/>
            </a:avLst>
          </a:prstGeom>
          <a:solidFill>
            <a:srgbClr val="F5F1FB"/>
          </a:solidFill>
          <a:ln w="12700">
            <a:solidFill>
              <a:srgbClr val="D9D3F0"/>
            </a:solidFill>
          </a:ln>
        </p:spPr>
        <p:txBody>
          <a:bodyPr wrap="square" lIns="201168" tIns="164592" rIns="182880" bIns="91440" rtlCol="0" anchor="t">
            <a:noAutofit/>
          </a:bodyPr>
          <a:lstStyle/>
          <a:p>
            <a:pPr marL="0" indent="0" algn="l">
              <a:spcBef>
                <a:spcPts val="0"/>
              </a:spcBef>
              <a:spcAft>
                <a:spcPts val="500"/>
              </a:spcAft>
              <a:buNone/>
            </a:pPr>
            <a:r>
              <a:rPr lang="en-US" sz="1300" b="1" dirty="0">
                <a:solidFill>
                  <a:srgbClr val="6D28D9"/>
                </a:solidFill>
                <a:latin typeface="Calibri"/>
                <a:cs typeface="Calibri"/>
              </a:rPr>
              <a:t>BUILD</a:t>
            </a:r>
          </a:p>
          <a:p>
            <a:pPr marL="0" indent="0" algn="l">
              <a:spcBef>
                <a:spcPts val="0"/>
              </a:spcBef>
              <a:spcAft>
                <a:spcPts val="600"/>
              </a:spcAft>
              <a:buNone/>
            </a:pPr>
            <a:r>
              <a:rPr lang="en-US" sz="2400" b="1" dirty="0">
                <a:solidFill>
                  <a:srgbClr val="704EA6"/>
                </a:solidFill>
                <a:latin typeface="Calibri"/>
                <a:cs typeface="Calibri"/>
              </a:rPr>
              <a:t>Antigravity</a:t>
            </a:r>
          </a:p>
          <a:p>
            <a:pPr marL="0" indent="0" algn="l">
              <a:spcBef>
                <a:spcPts val="0"/>
              </a:spcBef>
              <a:spcAft>
                <a:spcPts val="0"/>
              </a:spcAft>
              <a:buNone/>
            </a:pPr>
            <a:r>
              <a:rPr lang="en-US" sz="1600" b="0" dirty="0">
                <a:solidFill>
                  <a:srgbClr val="63637E"/>
                </a:solidFill>
                <a:latin typeface="Calibri"/>
                <a:cs typeface="Calibri"/>
              </a:rPr>
              <a:t>AI-assisted implementation to ship fast.</a:t>
            </a:r>
          </a:p>
        </p:txBody>
      </p:sp>
    </p:spTree>
    <p:extLst>
      <p:ext uri="{BB962C8B-B14F-4D97-AF65-F5344CB8AC3E}">
        <p14:creationId xmlns:p14="http://schemas.microsoft.com/office/powerpoint/2010/main" val="3724828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Impact &amp; Use case</a:t>
            </a:r>
            <a:endParaRPr lang="en-IN" b="1" dirty="0">
              <a:solidFill>
                <a:srgbClr val="704EA6"/>
              </a:solidFill>
            </a:endParaRPr>
          </a:p>
        </p:txBody>
      </p:sp>
      <p:sp>
        <p:nvSpPr>
          <p:cNvPr id="146" name="Shape 146"/>
          <p:cNvSpPr/>
          <p:nvPr/>
        </p:nvSpPr>
        <p:spPr>
          <a:xfrm>
            <a:off x="777240" y="1783080"/>
            <a:ext cx="3361944" cy="1463040"/>
          </a:xfrm>
          <a:prstGeom prst="roundRect">
            <a:avLst>
              <a:gd name="adj" fmla="val 8000"/>
            </a:avLst>
          </a:prstGeom>
          <a:solidFill>
            <a:srgbClr val="6D28D9"/>
          </a:solidFill>
          <a:ln>
            <a:noFill/>
          </a:ln>
        </p:spPr>
        <p:txBody>
          <a:bodyPr wrap="square" lIns="228600" tIns="73152" rIns="182880" bIns="73152" rtlCol="0" anchor="ctr">
            <a:noAutofit/>
          </a:bodyPr>
          <a:lstStyle/>
          <a:p>
            <a:pPr marL="0" indent="0" algn="l">
              <a:spcBef>
                <a:spcPts val="0"/>
              </a:spcBef>
              <a:spcAft>
                <a:spcPts val="0"/>
              </a:spcAft>
              <a:buNone/>
            </a:pPr>
            <a:r>
              <a:rPr lang="en-US" sz="4000" b="1" dirty="0">
                <a:solidFill>
                  <a:srgbClr val="FFFFFF"/>
                </a:solidFill>
                <a:latin typeface="Arial"/>
                <a:cs typeface="Arial"/>
              </a:rPr>
              <a:t>20×</a:t>
            </a:r>
          </a:p>
          <a:p>
            <a:pPr marL="0" indent="0" algn="l">
              <a:spcBef>
                <a:spcPts val="0"/>
              </a:spcBef>
              <a:spcAft>
                <a:spcPts val="0"/>
              </a:spcAft>
              <a:buNone/>
            </a:pPr>
            <a:r>
              <a:rPr lang="en-US" sz="1500" b="0" dirty="0">
                <a:solidFill>
                  <a:srgbClr val="E9E1F8"/>
                </a:solidFill>
                <a:latin typeface="Calibri"/>
                <a:cs typeface="Calibri"/>
              </a:rPr>
              <a:t>faster than conventional LLM-based solutions</a:t>
            </a:r>
          </a:p>
        </p:txBody>
      </p:sp>
      <p:sp>
        <p:nvSpPr>
          <p:cNvPr id="147" name="Shape 147"/>
          <p:cNvSpPr/>
          <p:nvPr/>
        </p:nvSpPr>
        <p:spPr>
          <a:xfrm>
            <a:off x="4413504" y="1783080"/>
            <a:ext cx="3361944" cy="1463040"/>
          </a:xfrm>
          <a:prstGeom prst="roundRect">
            <a:avLst>
              <a:gd name="adj" fmla="val 8000"/>
            </a:avLst>
          </a:prstGeom>
          <a:solidFill>
            <a:srgbClr val="6D28D9"/>
          </a:solidFill>
          <a:ln>
            <a:noFill/>
          </a:ln>
        </p:spPr>
        <p:txBody>
          <a:bodyPr wrap="square" lIns="228600" tIns="73152" rIns="182880" bIns="73152" rtlCol="0" anchor="ctr">
            <a:noAutofit/>
          </a:bodyPr>
          <a:lstStyle/>
          <a:p>
            <a:pPr marL="0" indent="0" algn="l">
              <a:spcBef>
                <a:spcPts val="0"/>
              </a:spcBef>
              <a:spcAft>
                <a:spcPts val="0"/>
              </a:spcAft>
              <a:buNone/>
            </a:pPr>
            <a:r>
              <a:rPr lang="en-US" sz="4000" b="1" dirty="0">
                <a:solidFill>
                  <a:srgbClr val="FFFFFF"/>
                </a:solidFill>
                <a:latin typeface="Arial"/>
                <a:cs typeface="Arial"/>
              </a:rPr>
              <a:t>840 ms</a:t>
            </a:r>
          </a:p>
          <a:p>
            <a:pPr marL="0" indent="0" algn="l">
              <a:spcBef>
                <a:spcPts val="0"/>
              </a:spcBef>
              <a:spcAft>
                <a:spcPts val="0"/>
              </a:spcAft>
              <a:buNone/>
            </a:pPr>
            <a:r>
              <a:rPr lang="en-US" sz="1500" b="0" dirty="0">
                <a:solidFill>
                  <a:srgbClr val="E9E1F8"/>
                </a:solidFill>
                <a:latin typeface="Calibri"/>
                <a:cs typeface="Calibri"/>
              </a:rPr>
              <a:t>latency saved per session</a:t>
            </a:r>
          </a:p>
        </p:txBody>
      </p:sp>
      <p:sp>
        <p:nvSpPr>
          <p:cNvPr id="148" name="Shape 148"/>
          <p:cNvSpPr/>
          <p:nvPr/>
        </p:nvSpPr>
        <p:spPr>
          <a:xfrm>
            <a:off x="8049768" y="1783080"/>
            <a:ext cx="3361944" cy="1463040"/>
          </a:xfrm>
          <a:prstGeom prst="roundRect">
            <a:avLst>
              <a:gd name="adj" fmla="val 8000"/>
            </a:avLst>
          </a:prstGeom>
          <a:solidFill>
            <a:srgbClr val="6D28D9"/>
          </a:solidFill>
          <a:ln>
            <a:noFill/>
          </a:ln>
        </p:spPr>
        <p:txBody>
          <a:bodyPr wrap="square" lIns="228600" tIns="73152" rIns="182880" bIns="73152" rtlCol="0" anchor="ctr">
            <a:noAutofit/>
          </a:bodyPr>
          <a:lstStyle/>
          <a:p>
            <a:pPr marL="0" indent="0" algn="l">
              <a:spcBef>
                <a:spcPts val="0"/>
              </a:spcBef>
              <a:spcAft>
                <a:spcPts val="0"/>
              </a:spcAft>
              <a:buNone/>
            </a:pPr>
            <a:r>
              <a:rPr lang="en-US" sz="4000" b="1" dirty="0">
                <a:solidFill>
                  <a:srgbClr val="FFFFFF"/>
                </a:solidFill>
                <a:latin typeface="Arial"/>
                <a:cs typeface="Arial"/>
              </a:rPr>
              <a:t>1,420</a:t>
            </a:r>
          </a:p>
          <a:p>
            <a:pPr marL="0" indent="0" algn="l">
              <a:spcBef>
                <a:spcPts val="0"/>
              </a:spcBef>
              <a:spcAft>
                <a:spcPts val="0"/>
              </a:spcAft>
              <a:buNone/>
            </a:pPr>
            <a:r>
              <a:rPr lang="en-US" sz="1500" b="0" dirty="0">
                <a:solidFill>
                  <a:srgbClr val="E9E1F8"/>
                </a:solidFill>
                <a:latin typeface="Calibri"/>
                <a:cs typeface="Calibri"/>
              </a:rPr>
              <a:t>tokens saved per session</a:t>
            </a:r>
          </a:p>
        </p:txBody>
      </p:sp>
      <p:sp>
        <p:nvSpPr>
          <p:cNvPr id="149" name="Shape 149"/>
          <p:cNvSpPr/>
          <p:nvPr/>
        </p:nvSpPr>
        <p:spPr>
          <a:xfrm>
            <a:off x="777240" y="3474720"/>
            <a:ext cx="5180076" cy="2606040"/>
          </a:xfrm>
          <a:prstGeom prst="roundRect">
            <a:avLst>
              <a:gd name="adj" fmla="val 4000"/>
            </a:avLst>
          </a:prstGeom>
          <a:solidFill>
            <a:srgbClr val="F5F1FB"/>
          </a:solidFill>
          <a:ln w="12700">
            <a:solidFill>
              <a:srgbClr val="D9D3F0"/>
            </a:solidFill>
          </a:ln>
        </p:spPr>
        <p:txBody>
          <a:bodyPr wrap="square" lIns="228600" tIns="182880" rIns="182880" bIns="91440" rtlCol="0" anchor="t">
            <a:noAutofit/>
          </a:bodyPr>
          <a:lstStyle/>
          <a:p>
            <a:pPr marL="0" indent="0" algn="l">
              <a:spcBef>
                <a:spcPts val="0"/>
              </a:spcBef>
              <a:spcAft>
                <a:spcPts val="1000"/>
              </a:spcAft>
              <a:buNone/>
            </a:pPr>
            <a:r>
              <a:rPr lang="en-US" sz="2100" b="1" dirty="0">
                <a:solidFill>
                  <a:srgbClr val="704EA6"/>
                </a:solidFill>
                <a:latin typeface="Calibri"/>
                <a:cs typeface="Calibri"/>
              </a:rPr>
              <a:t>At scale: 1M sessions (projected)</a:t>
            </a:r>
          </a:p>
          <a:p>
            <a:pPr marL="228600" indent="-228600" algn="l">
              <a:spcBef>
                <a:spcPts val="0"/>
              </a:spcBef>
              <a:spcAft>
                <a:spcPts val="1200"/>
              </a:spcAft>
              <a:buSzPct val="100000"/>
              <a:buChar char="•"/>
            </a:pPr>
            <a:r>
              <a:rPr lang="en-US" sz="1900" b="0" dirty="0">
                <a:solidFill>
                  <a:srgbClr val="14142B"/>
                </a:solidFill>
                <a:latin typeface="Calibri"/>
                <a:cs typeface="Calibri"/>
              </a:rPr>
              <a:t>1.42 billion tokens saved</a:t>
            </a:r>
          </a:p>
          <a:p>
            <a:pPr marL="228600" indent="-228600" algn="l">
              <a:spcBef>
                <a:spcPts val="0"/>
              </a:spcBef>
              <a:spcAft>
                <a:spcPts val="1200"/>
              </a:spcAft>
              <a:buSzPct val="100000"/>
              <a:buChar char="•"/>
            </a:pPr>
            <a:r>
              <a:rPr lang="en-US" sz="1900" b="0" dirty="0">
                <a:solidFill>
                  <a:srgbClr val="14142B"/>
                </a:solidFill>
                <a:latin typeface="Calibri"/>
                <a:cs typeface="Calibri"/>
              </a:rPr>
              <a:t>~233 hours of user waiting removed</a:t>
            </a:r>
          </a:p>
          <a:p>
            <a:pPr marL="228600" indent="-228600" algn="l">
              <a:spcBef>
                <a:spcPts val="0"/>
              </a:spcBef>
              <a:spcAft>
                <a:spcPts val="1200"/>
              </a:spcAft>
              <a:buSzPct val="100000"/>
              <a:buChar char="•"/>
            </a:pPr>
            <a:r>
              <a:rPr lang="en-US" sz="1900" b="0" dirty="0">
                <a:solidFill>
                  <a:srgbClr val="14142B"/>
                </a:solidFill>
                <a:latin typeface="Calibri"/>
                <a:cs typeface="Calibri"/>
              </a:rPr>
              <a:t>Sub-50 ms responses feel instant</a:t>
            </a:r>
          </a:p>
        </p:txBody>
      </p:sp>
      <p:sp>
        <p:nvSpPr>
          <p:cNvPr id="150" name="Shape 150"/>
          <p:cNvSpPr/>
          <p:nvPr/>
        </p:nvSpPr>
        <p:spPr>
          <a:xfrm>
            <a:off x="6231636" y="3474720"/>
            <a:ext cx="5180076" cy="2606040"/>
          </a:xfrm>
          <a:prstGeom prst="roundRect">
            <a:avLst>
              <a:gd name="adj" fmla="val 4000"/>
            </a:avLst>
          </a:prstGeom>
          <a:solidFill>
            <a:srgbClr val="F5F1FB"/>
          </a:solidFill>
          <a:ln w="12700">
            <a:solidFill>
              <a:srgbClr val="D9D3F0"/>
            </a:solidFill>
          </a:ln>
        </p:spPr>
        <p:txBody>
          <a:bodyPr wrap="square" lIns="228600" tIns="182880" rIns="182880" bIns="91440" rtlCol="0" anchor="t">
            <a:noAutofit/>
          </a:bodyPr>
          <a:lstStyle/>
          <a:p>
            <a:pPr marL="0" indent="0" algn="l">
              <a:spcBef>
                <a:spcPts val="0"/>
              </a:spcBef>
              <a:spcAft>
                <a:spcPts val="1000"/>
              </a:spcAft>
              <a:buNone/>
            </a:pPr>
            <a:r>
              <a:rPr lang="en-US" sz="2100" b="1" dirty="0">
                <a:solidFill>
                  <a:srgbClr val="704EA6"/>
                </a:solidFill>
                <a:latin typeface="Calibri"/>
                <a:cs typeface="Calibri"/>
              </a:rPr>
              <a:t>Use cases</a:t>
            </a:r>
          </a:p>
          <a:p>
            <a:pPr marL="228600" indent="-228600" algn="l">
              <a:spcBef>
                <a:spcPts val="0"/>
              </a:spcBef>
              <a:spcAft>
                <a:spcPts val="700"/>
              </a:spcAft>
              <a:buSzPct val="100000"/>
              <a:buChar char="•"/>
            </a:pPr>
            <a:r>
              <a:rPr lang="en-US" sz="1800" b="0" dirty="0">
                <a:solidFill>
                  <a:srgbClr val="14142B"/>
                </a:solidFill>
                <a:latin typeface="Calibri"/>
                <a:cs typeface="Calibri"/>
              </a:rPr>
              <a:t>Battery drain and charging issues</a:t>
            </a:r>
          </a:p>
          <a:p>
            <a:pPr marL="228600" indent="-228600" algn="l">
              <a:spcBef>
                <a:spcPts val="0"/>
              </a:spcBef>
              <a:spcAft>
                <a:spcPts val="700"/>
              </a:spcAft>
              <a:buSzPct val="100000"/>
              <a:buChar char="•"/>
            </a:pPr>
            <a:r>
              <a:rPr lang="en-US" sz="1800" b="0" dirty="0">
                <a:solidFill>
                  <a:srgbClr val="14142B"/>
                </a:solidFill>
                <a:latin typeface="Calibri"/>
                <a:cs typeface="Calibri"/>
              </a:rPr>
              <a:t>Display flicker and screen problems</a:t>
            </a:r>
          </a:p>
          <a:p>
            <a:pPr marL="228600" indent="-228600" algn="l">
              <a:spcBef>
                <a:spcPts val="0"/>
              </a:spcBef>
              <a:spcAft>
                <a:spcPts val="700"/>
              </a:spcAft>
              <a:buSzPct val="100000"/>
              <a:buChar char="•"/>
            </a:pPr>
            <a:r>
              <a:rPr lang="en-US" sz="1800" b="0" dirty="0">
                <a:solidFill>
                  <a:srgbClr val="14142B"/>
                </a:solidFill>
                <a:latin typeface="Calibri"/>
                <a:cs typeface="Calibri"/>
              </a:rPr>
              <a:t>Camera faults</a:t>
            </a:r>
          </a:p>
          <a:p>
            <a:pPr marL="228600" indent="-228600" algn="l">
              <a:spcBef>
                <a:spcPts val="0"/>
              </a:spcBef>
              <a:spcAft>
                <a:spcPts val="700"/>
              </a:spcAft>
              <a:buSzPct val="100000"/>
              <a:buChar char="•"/>
            </a:pPr>
            <a:r>
              <a:rPr lang="en-US" sz="1800" b="0" dirty="0">
                <a:solidFill>
                  <a:srgbClr val="14142B"/>
                </a:solidFill>
                <a:latin typeface="Calibri"/>
                <a:cs typeface="Calibri"/>
              </a:rPr>
              <a:t>Slow performance and lag</a:t>
            </a:r>
          </a:p>
          <a:p>
            <a:pPr marL="228600" indent="-228600" algn="l">
              <a:spcBef>
                <a:spcPts val="0"/>
              </a:spcBef>
              <a:spcAft>
                <a:spcPts val="700"/>
              </a:spcAft>
              <a:buSzPct val="100000"/>
              <a:buChar char="•"/>
            </a:pPr>
            <a:r>
              <a:rPr lang="en-US" sz="1800" b="0" dirty="0">
                <a:solidFill>
                  <a:srgbClr val="14142B"/>
                </a:solidFill>
                <a:latin typeface="Calibri"/>
                <a:cs typeface="Calibri"/>
              </a:rPr>
              <a:t>Hardware fault? Nearest store + email</a:t>
            </a:r>
          </a:p>
        </p:txBody>
      </p:sp>
    </p:spTree>
    <p:extLst>
      <p:ext uri="{BB962C8B-B14F-4D97-AF65-F5344CB8AC3E}">
        <p14:creationId xmlns:p14="http://schemas.microsoft.com/office/powerpoint/2010/main" val="3668119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Innovation highlights, results and limitations</a:t>
            </a:r>
            <a:endParaRPr lang="en-US" sz="4400" b="1" dirty="0">
              <a:solidFill>
                <a:srgbClr val="704EA6"/>
              </a:solidFill>
            </a:endParaRPr>
          </a:p>
        </p:txBody>
      </p:sp>
      <p:sp>
        <p:nvSpPr>
          <p:cNvPr id="151" name="Shape 151"/>
          <p:cNvSpPr/>
          <p:nvPr/>
        </p:nvSpPr>
        <p:spPr>
          <a:xfrm>
            <a:off x="777240" y="1783080"/>
            <a:ext cx="3392424" cy="4206240"/>
          </a:xfrm>
          <a:prstGeom prst="roundRect">
            <a:avLst>
              <a:gd name="adj" fmla="val 3500"/>
            </a:avLst>
          </a:prstGeom>
          <a:solidFill>
            <a:srgbClr val="F5F1FB"/>
          </a:solidFill>
          <a:ln w="12700">
            <a:solidFill>
              <a:srgbClr val="D9D3F0"/>
            </a:solidFill>
          </a:ln>
        </p:spPr>
        <p:txBody>
          <a:bodyPr wrap="square" lIns="201168" tIns="182880" rIns="182880" bIns="91440" rtlCol="0" anchor="t">
            <a:noAutofit/>
          </a:bodyPr>
          <a:lstStyle/>
          <a:p>
            <a:pPr marL="0" indent="0" algn="l">
              <a:spcBef>
                <a:spcPts val="0"/>
              </a:spcBef>
              <a:spcAft>
                <a:spcPts val="1000"/>
              </a:spcAft>
              <a:buNone/>
            </a:pPr>
            <a:r>
              <a:rPr lang="en-US" sz="2100" b="1" dirty="0">
                <a:solidFill>
                  <a:srgbClr val="704EA6"/>
                </a:solidFill>
                <a:latin typeface="Calibri"/>
                <a:cs typeface="Calibri"/>
              </a:rPr>
              <a:t>Innovation highlights</a:t>
            </a:r>
          </a:p>
          <a:p>
            <a:pPr marL="228600" indent="-228600" algn="l">
              <a:spcBef>
                <a:spcPts val="0"/>
              </a:spcBef>
              <a:spcAft>
                <a:spcPts val="1000"/>
              </a:spcAft>
              <a:buSzPct val="100000"/>
              <a:buChar char="•"/>
            </a:pPr>
            <a:r>
              <a:rPr lang="en-US" sz="1600" b="0" dirty="0">
                <a:solidFill>
                  <a:srgbClr val="14142B"/>
                </a:solidFill>
                <a:latin typeface="Calibri"/>
                <a:cs typeface="Calibri"/>
              </a:rPr>
              <a:t>Type-safe System-1 decision engine instead of a generative LLM</a:t>
            </a:r>
          </a:p>
          <a:p>
            <a:pPr marL="228600" indent="-228600" algn="l">
              <a:spcBef>
                <a:spcPts val="0"/>
              </a:spcBef>
              <a:spcAft>
                <a:spcPts val="1000"/>
              </a:spcAft>
              <a:buSzPct val="100000"/>
              <a:buChar char="•"/>
            </a:pPr>
            <a:r>
              <a:rPr lang="en-US" sz="1600" b="0" dirty="0">
                <a:solidFill>
                  <a:srgbClr val="14142B"/>
                </a:solidFill>
                <a:latin typeface="Calibri"/>
                <a:cs typeface="Calibri"/>
              </a:rPr>
              <a:t>3-tier hybrid RAG: fast-gate → decision → verified search</a:t>
            </a:r>
          </a:p>
          <a:p>
            <a:pPr marL="228600" indent="-228600" algn="l">
              <a:spcBef>
                <a:spcPts val="0"/>
              </a:spcBef>
              <a:spcAft>
                <a:spcPts val="1000"/>
              </a:spcAft>
              <a:buSzPct val="100000"/>
              <a:buChar char="•"/>
            </a:pPr>
            <a:r>
              <a:rPr lang="en-US" sz="1600" b="0" dirty="0">
                <a:solidFill>
                  <a:srgbClr val="14142B"/>
                </a:solidFill>
                <a:latin typeface="Calibri"/>
                <a:cs typeface="Calibri"/>
              </a:rPr>
              <a:t>Zero-token hot path</a:t>
            </a:r>
          </a:p>
          <a:p>
            <a:pPr marL="228600" indent="-228600" algn="l">
              <a:spcBef>
                <a:spcPts val="0"/>
              </a:spcBef>
              <a:spcAft>
                <a:spcPts val="1000"/>
              </a:spcAft>
              <a:buSzPct val="100000"/>
              <a:buChar char="•"/>
            </a:pPr>
            <a:r>
              <a:rPr lang="en-US" sz="1600" b="0" dirty="0">
                <a:solidFill>
                  <a:srgbClr val="14142B"/>
                </a:solidFill>
                <a:latin typeface="Calibri"/>
                <a:cs typeface="Calibri"/>
              </a:rPr>
              <a:t>Always a next step: store locator + compose email</a:t>
            </a:r>
          </a:p>
        </p:txBody>
      </p:sp>
      <p:sp>
        <p:nvSpPr>
          <p:cNvPr id="152" name="Shape 152"/>
          <p:cNvSpPr/>
          <p:nvPr/>
        </p:nvSpPr>
        <p:spPr>
          <a:xfrm>
            <a:off x="4398264" y="1783080"/>
            <a:ext cx="3392424" cy="4206240"/>
          </a:xfrm>
          <a:prstGeom prst="roundRect">
            <a:avLst>
              <a:gd name="adj" fmla="val 3500"/>
            </a:avLst>
          </a:prstGeom>
          <a:solidFill>
            <a:srgbClr val="F5F1FB"/>
          </a:solidFill>
          <a:ln w="12700">
            <a:solidFill>
              <a:srgbClr val="D9D3F0"/>
            </a:solidFill>
          </a:ln>
        </p:spPr>
        <p:txBody>
          <a:bodyPr wrap="square" lIns="201168" tIns="182880" rIns="182880" bIns="91440" rtlCol="0" anchor="t">
            <a:noAutofit/>
          </a:bodyPr>
          <a:lstStyle/>
          <a:p>
            <a:pPr marL="0" indent="0" algn="l">
              <a:spcBef>
                <a:spcPts val="0"/>
              </a:spcBef>
              <a:spcAft>
                <a:spcPts val="1000"/>
              </a:spcAft>
              <a:buNone/>
            </a:pPr>
            <a:r>
              <a:rPr lang="en-US" sz="2100" b="1" dirty="0">
                <a:solidFill>
                  <a:srgbClr val="704EA6"/>
                </a:solidFill>
                <a:latin typeface="Calibri"/>
                <a:cs typeface="Calibri"/>
              </a:rPr>
              <a:t>Results</a:t>
            </a:r>
          </a:p>
        </p:txBody>
      </p:sp>
      <p:sp>
        <p:nvSpPr>
          <p:cNvPr id="153" name="Shape 153"/>
          <p:cNvSpPr txBox="1"/>
          <p:nvPr/>
        </p:nvSpPr>
        <p:spPr>
          <a:xfrm>
            <a:off x="4599432" y="2697480"/>
            <a:ext cx="2990088" cy="274320"/>
          </a:xfrm>
          <a:prstGeom prst="roundRect">
            <a:avLst>
              <a:gd name="adj" fmla="val 6000"/>
            </a:avLst>
          </a:prstGeom>
          <a:noFill/>
          <a:ln>
            <a:noFill/>
          </a:ln>
        </p:spPr>
        <p:txBody>
          <a:bodyPr wrap="square" lIns="0" tIns="0" rIns="0" bIns="0" rtlCol="0" anchor="ctr">
            <a:noAutofit/>
          </a:bodyPr>
          <a:lstStyle/>
          <a:p>
            <a:pPr marL="0" indent="0" algn="l">
              <a:spcBef>
                <a:spcPts val="0"/>
              </a:spcBef>
              <a:spcAft>
                <a:spcPts val="0"/>
              </a:spcAft>
              <a:buNone/>
            </a:pPr>
            <a:r>
              <a:rPr lang="en-US" sz="1500" b="0" dirty="0">
                <a:solidFill>
                  <a:srgbClr val="63637E"/>
                </a:solidFill>
                <a:latin typeface="Calibri"/>
                <a:cs typeface="Calibri"/>
              </a:rPr>
              <a:t>Conventional LLM-based  ~840 ms</a:t>
            </a:r>
          </a:p>
        </p:txBody>
      </p:sp>
      <p:sp>
        <p:nvSpPr>
          <p:cNvPr id="154" name="Shape 154"/>
          <p:cNvSpPr/>
          <p:nvPr/>
        </p:nvSpPr>
        <p:spPr>
          <a:xfrm>
            <a:off x="4599432" y="3017520"/>
            <a:ext cx="2990088" cy="365760"/>
          </a:xfrm>
          <a:prstGeom prst="rect">
            <a:avLst/>
          </a:prstGeom>
          <a:solidFill>
            <a:srgbClr val="B9B4CC"/>
          </a:solidFill>
          <a:ln>
            <a:noFill/>
          </a:ln>
        </p:spPr>
        <p:txBody>
          <a:bodyPr wrap="square" lIns="137160" tIns="91440" rIns="137160" bIns="91440" rtlCol="0" anchor="t">
            <a:noAutofit/>
          </a:bodyPr>
          <a:lstStyle/>
          <a:p>
            <a:endParaRPr lang="en-US"/>
          </a:p>
        </p:txBody>
      </p:sp>
      <p:sp>
        <p:nvSpPr>
          <p:cNvPr id="155" name="Shape 155"/>
          <p:cNvSpPr txBox="1"/>
          <p:nvPr/>
        </p:nvSpPr>
        <p:spPr>
          <a:xfrm>
            <a:off x="4599432" y="3703320"/>
            <a:ext cx="2990088" cy="274320"/>
          </a:xfrm>
          <a:prstGeom prst="roundRect">
            <a:avLst>
              <a:gd name="adj" fmla="val 6000"/>
            </a:avLst>
          </a:prstGeom>
          <a:noFill/>
          <a:ln>
            <a:noFill/>
          </a:ln>
        </p:spPr>
        <p:txBody>
          <a:bodyPr wrap="square" lIns="0" tIns="0" rIns="0" bIns="0" rtlCol="0" anchor="ctr">
            <a:noAutofit/>
          </a:bodyPr>
          <a:lstStyle/>
          <a:p>
            <a:pPr marL="0" indent="0" algn="l">
              <a:spcBef>
                <a:spcPts val="0"/>
              </a:spcBef>
              <a:spcAft>
                <a:spcPts val="0"/>
              </a:spcAft>
              <a:buNone/>
            </a:pPr>
            <a:r>
              <a:rPr lang="en-US" sz="1500" b="1" dirty="0">
                <a:solidFill>
                  <a:srgbClr val="6D28D9"/>
                </a:solidFill>
                <a:latin typeface="Calibri"/>
                <a:cs typeface="Calibri"/>
              </a:rPr>
              <a:t>Syntax Error pipeline  &lt;42 ms</a:t>
            </a:r>
          </a:p>
        </p:txBody>
      </p:sp>
      <p:sp>
        <p:nvSpPr>
          <p:cNvPr id="156" name="Shape 156"/>
          <p:cNvSpPr/>
          <p:nvPr/>
        </p:nvSpPr>
        <p:spPr>
          <a:xfrm>
            <a:off x="4599432" y="4023360"/>
            <a:ext cx="149504" cy="365760"/>
          </a:xfrm>
          <a:prstGeom prst="rect">
            <a:avLst/>
          </a:prstGeom>
          <a:solidFill>
            <a:srgbClr val="6D28D9"/>
          </a:solidFill>
          <a:ln>
            <a:noFill/>
          </a:ln>
        </p:spPr>
        <p:txBody>
          <a:bodyPr wrap="square" lIns="137160" tIns="91440" rIns="137160" bIns="91440" rtlCol="0" anchor="t">
            <a:noAutofit/>
          </a:bodyPr>
          <a:lstStyle/>
          <a:p>
            <a:endParaRPr lang="en-US"/>
          </a:p>
        </p:txBody>
      </p:sp>
      <p:sp>
        <p:nvSpPr>
          <p:cNvPr id="157" name="Shape 157"/>
          <p:cNvSpPr txBox="1"/>
          <p:nvPr/>
        </p:nvSpPr>
        <p:spPr>
          <a:xfrm>
            <a:off x="4599432" y="4663440"/>
            <a:ext cx="2990088" cy="1188720"/>
          </a:xfrm>
          <a:prstGeom prst="roundRect">
            <a:avLst>
              <a:gd name="adj" fmla="val 6000"/>
            </a:avLst>
          </a:prstGeom>
          <a:noFill/>
          <a:ln>
            <a:noFill/>
          </a:ln>
        </p:spPr>
        <p:txBody>
          <a:bodyPr wrap="square" lIns="0" tIns="0" rIns="0" bIns="0" rtlCol="0" anchor="t">
            <a:noAutofit/>
          </a:bodyPr>
          <a:lstStyle/>
          <a:p>
            <a:pPr marL="0" indent="0" algn="l">
              <a:spcBef>
                <a:spcPts val="0"/>
              </a:spcBef>
              <a:spcAft>
                <a:spcPts val="300"/>
              </a:spcAft>
              <a:buNone/>
            </a:pPr>
            <a:r>
              <a:rPr lang="en-US" sz="3200" b="1" dirty="0">
                <a:solidFill>
                  <a:srgbClr val="14142B"/>
                </a:solidFill>
                <a:latin typeface="Arial"/>
                <a:cs typeface="Arial"/>
              </a:rPr>
              <a:t>20× faster</a:t>
            </a:r>
          </a:p>
          <a:p>
            <a:pPr marL="0" indent="0" algn="l">
              <a:spcBef>
                <a:spcPts val="0"/>
              </a:spcBef>
              <a:spcAft>
                <a:spcPts val="0"/>
              </a:spcAft>
              <a:buNone/>
            </a:pPr>
            <a:r>
              <a:rPr lang="en-US" sz="1600" b="0" dirty="0">
                <a:solidFill>
                  <a:srgbClr val="63637E"/>
                </a:solidFill>
                <a:latin typeface="Calibri"/>
                <a:cs typeface="Calibri"/>
              </a:rPr>
              <a:t>−1,420 tokens  ·  −840 ms per session</a:t>
            </a:r>
          </a:p>
        </p:txBody>
      </p:sp>
      <p:sp>
        <p:nvSpPr>
          <p:cNvPr id="158" name="Shape 158"/>
          <p:cNvSpPr/>
          <p:nvPr/>
        </p:nvSpPr>
        <p:spPr>
          <a:xfrm>
            <a:off x="8019288" y="1783080"/>
            <a:ext cx="3392424" cy="4206240"/>
          </a:xfrm>
          <a:prstGeom prst="roundRect">
            <a:avLst>
              <a:gd name="adj" fmla="val 3500"/>
            </a:avLst>
          </a:prstGeom>
          <a:solidFill>
            <a:srgbClr val="F5F1FB"/>
          </a:solidFill>
          <a:ln w="12700">
            <a:solidFill>
              <a:srgbClr val="D9D3F0"/>
            </a:solidFill>
          </a:ln>
        </p:spPr>
        <p:txBody>
          <a:bodyPr wrap="square" lIns="201168" tIns="182880" rIns="182880" bIns="91440" rtlCol="0" anchor="t">
            <a:noAutofit/>
          </a:bodyPr>
          <a:lstStyle/>
          <a:p>
            <a:pPr marL="0" indent="0" algn="l">
              <a:spcBef>
                <a:spcPts val="0"/>
              </a:spcBef>
              <a:spcAft>
                <a:spcPts val="1000"/>
              </a:spcAft>
              <a:buNone/>
            </a:pPr>
            <a:r>
              <a:rPr lang="en-US" sz="2100" b="1" dirty="0">
                <a:solidFill>
                  <a:srgbClr val="704EA6"/>
                </a:solidFill>
                <a:latin typeface="Calibri"/>
                <a:cs typeface="Calibri"/>
              </a:rPr>
              <a:t>Limitations (v1)</a:t>
            </a:r>
          </a:p>
          <a:p>
            <a:pPr marL="228600" indent="-228600" algn="l">
              <a:spcBef>
                <a:spcPts val="0"/>
              </a:spcBef>
              <a:spcAft>
                <a:spcPts val="1000"/>
              </a:spcAft>
              <a:buSzPct val="100000"/>
              <a:buChar char="•"/>
            </a:pPr>
            <a:r>
              <a:rPr lang="en-US" sz="1600" b="0" dirty="0">
                <a:solidFill>
                  <a:srgbClr val="14142B"/>
                </a:solidFill>
                <a:latin typeface="Calibri"/>
                <a:cs typeface="Calibri"/>
              </a:rPr>
              <a:t>Curated knowledge base of ~20–30 records across 4 domains</a:t>
            </a:r>
          </a:p>
          <a:p>
            <a:pPr marL="228600" indent="-228600" algn="l">
              <a:spcBef>
                <a:spcPts val="0"/>
              </a:spcBef>
              <a:spcAft>
                <a:spcPts val="1000"/>
              </a:spcAft>
              <a:buSzPct val="100000"/>
              <a:buChar char="•"/>
            </a:pPr>
            <a:r>
              <a:rPr lang="en-US" sz="1600" b="0" dirty="0">
                <a:solidFill>
                  <a:srgbClr val="14142B"/>
                </a:solidFill>
                <a:latin typeface="Calibri"/>
                <a:cs typeface="Calibri"/>
              </a:rPr>
              <a:t>Categorical decisions only — out-of-corpus issues go to the fallback</a:t>
            </a:r>
          </a:p>
          <a:p>
            <a:pPr marL="228600" indent="-228600" algn="l">
              <a:spcBef>
                <a:spcPts val="0"/>
              </a:spcBef>
              <a:spcAft>
                <a:spcPts val="1000"/>
              </a:spcAft>
              <a:buSzPct val="100000"/>
              <a:buChar char="•"/>
            </a:pPr>
            <a:r>
              <a:rPr lang="en-US" sz="1600" b="0" dirty="0">
                <a:solidFill>
                  <a:srgbClr val="14142B"/>
                </a:solidFill>
                <a:latin typeface="Calibri"/>
                <a:cs typeface="Calibri"/>
              </a:rPr>
              <a:t>Laya is early-stage (v0.3.x)</a:t>
            </a:r>
          </a:p>
          <a:p>
            <a:pPr marL="228600" indent="-228600" algn="l">
              <a:spcBef>
                <a:spcPts val="0"/>
              </a:spcBef>
              <a:spcAft>
                <a:spcPts val="1000"/>
              </a:spcAft>
              <a:buSzPct val="100000"/>
              <a:buChar char="•"/>
            </a:pPr>
            <a:r>
              <a:rPr lang="en-US" sz="1600" b="0" dirty="0">
                <a:solidFill>
                  <a:srgbClr val="14142B"/>
                </a:solidFill>
                <a:latin typeface="Calibri"/>
                <a:cs typeface="Calibri"/>
              </a:rPr>
              <a:t>Benchmarks from our prototype; to be validated at scale</a:t>
            </a:r>
          </a:p>
        </p:txBody>
      </p:sp>
    </p:spTree>
    <p:extLst>
      <p:ext uri="{BB962C8B-B14F-4D97-AF65-F5344CB8AC3E}">
        <p14:creationId xmlns:p14="http://schemas.microsoft.com/office/powerpoint/2010/main" val="1993237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What’s next</a:t>
            </a:r>
            <a:endParaRPr lang="en-US" sz="4400" b="1" dirty="0">
              <a:solidFill>
                <a:srgbClr val="704EA6"/>
              </a:solidFill>
            </a:endParaRPr>
          </a:p>
        </p:txBody>
      </p:sp>
      <p:sp>
        <p:nvSpPr>
          <p:cNvPr id="159" name="Shape 159"/>
          <p:cNvSpPr/>
          <p:nvPr/>
        </p:nvSpPr>
        <p:spPr>
          <a:xfrm>
            <a:off x="777240" y="1783080"/>
            <a:ext cx="2452878" cy="548640"/>
          </a:xfrm>
          <a:prstGeom prst="homePlate">
            <a:avLst/>
          </a:prstGeom>
          <a:solidFill>
            <a:srgbClr val="6D28D9"/>
          </a:solidFill>
          <a:ln>
            <a:noFill/>
          </a:ln>
        </p:spPr>
        <p:txBody>
          <a:bodyPr wrap="square" lIns="91440" tIns="0" rIns="274320" bIns="0" rtlCol="0" anchor="ctr">
            <a:noAutofit/>
          </a:bodyPr>
          <a:lstStyle/>
          <a:p>
            <a:pPr marL="0" indent="0" algn="ctr">
              <a:spcBef>
                <a:spcPts val="0"/>
              </a:spcBef>
              <a:spcAft>
                <a:spcPts val="0"/>
              </a:spcAft>
              <a:buNone/>
            </a:pPr>
            <a:r>
              <a:rPr lang="en-US" sz="1500" b="1" dirty="0">
                <a:solidFill>
                  <a:srgbClr val="FFFFFF"/>
                </a:solidFill>
                <a:latin typeface="Calibri"/>
                <a:cs typeface="Calibri"/>
              </a:rPr>
              <a:t>PHASE 1</a:t>
            </a:r>
          </a:p>
        </p:txBody>
      </p:sp>
      <p:sp>
        <p:nvSpPr>
          <p:cNvPr id="160" name="Shape 160"/>
          <p:cNvSpPr/>
          <p:nvPr/>
        </p:nvSpPr>
        <p:spPr>
          <a:xfrm>
            <a:off x="777240" y="2468880"/>
            <a:ext cx="2452878" cy="2331720"/>
          </a:xfrm>
          <a:prstGeom prst="roundRect">
            <a:avLst>
              <a:gd name="adj" fmla="val 4000"/>
            </a:avLst>
          </a:prstGeom>
          <a:solidFill>
            <a:srgbClr val="F5F1FB"/>
          </a:solidFill>
          <a:ln w="12700">
            <a:solidFill>
              <a:srgbClr val="D9D3F0"/>
            </a:solidFill>
          </a:ln>
        </p:spPr>
        <p:txBody>
          <a:bodyPr wrap="square" lIns="201168" tIns="182880" rIns="182880" bIns="91440" rtlCol="0" anchor="t">
            <a:noAutofit/>
          </a:bodyPr>
          <a:lstStyle/>
          <a:p>
            <a:pPr marL="0" indent="0" algn="l">
              <a:spcBef>
                <a:spcPts val="0"/>
              </a:spcBef>
              <a:spcAft>
                <a:spcPts val="800"/>
              </a:spcAft>
              <a:buNone/>
            </a:pPr>
            <a:r>
              <a:rPr lang="en-US" sz="2100" b="1" dirty="0">
                <a:solidFill>
                  <a:srgbClr val="704EA6"/>
                </a:solidFill>
                <a:latin typeface="Calibri"/>
                <a:cs typeface="Calibri"/>
              </a:rPr>
              <a:t>Widen the corpus</a:t>
            </a:r>
          </a:p>
          <a:p>
            <a:pPr marL="0" indent="0" algn="l">
              <a:spcBef>
                <a:spcPts val="0"/>
              </a:spcBef>
              <a:spcAft>
                <a:spcPts val="0"/>
              </a:spcAft>
              <a:buNone/>
            </a:pPr>
            <a:r>
              <a:rPr lang="en-US" sz="1600" b="0" dirty="0">
                <a:solidFill>
                  <a:srgbClr val="63637E"/>
                </a:solidFill>
                <a:latin typeface="Calibri"/>
                <a:cs typeface="Calibri"/>
              </a:rPr>
              <a:t>Extend beyond Battery, Display, Camera and Performance to TVs, appliances and wearables.</a:t>
            </a:r>
          </a:p>
        </p:txBody>
      </p:sp>
      <p:sp>
        <p:nvSpPr>
          <p:cNvPr id="161" name="Shape 161"/>
          <p:cNvSpPr/>
          <p:nvPr/>
        </p:nvSpPr>
        <p:spPr>
          <a:xfrm>
            <a:off x="3504438" y="1783080"/>
            <a:ext cx="2452878" cy="548640"/>
          </a:xfrm>
          <a:prstGeom prst="homePlate">
            <a:avLst/>
          </a:prstGeom>
          <a:solidFill>
            <a:srgbClr val="6D28D9"/>
          </a:solidFill>
          <a:ln>
            <a:noFill/>
          </a:ln>
        </p:spPr>
        <p:txBody>
          <a:bodyPr wrap="square" lIns="91440" tIns="0" rIns="274320" bIns="0" rtlCol="0" anchor="ctr">
            <a:noAutofit/>
          </a:bodyPr>
          <a:lstStyle/>
          <a:p>
            <a:pPr marL="0" indent="0" algn="ctr">
              <a:spcBef>
                <a:spcPts val="0"/>
              </a:spcBef>
              <a:spcAft>
                <a:spcPts val="0"/>
              </a:spcAft>
              <a:buNone/>
            </a:pPr>
            <a:r>
              <a:rPr lang="en-US" sz="1500" b="1" dirty="0">
                <a:solidFill>
                  <a:srgbClr val="FFFFFF"/>
                </a:solidFill>
                <a:latin typeface="Calibri"/>
                <a:cs typeface="Calibri"/>
              </a:rPr>
              <a:t>PHASE 2</a:t>
            </a:r>
          </a:p>
        </p:txBody>
      </p:sp>
      <p:sp>
        <p:nvSpPr>
          <p:cNvPr id="162" name="Shape 162"/>
          <p:cNvSpPr/>
          <p:nvPr/>
        </p:nvSpPr>
        <p:spPr>
          <a:xfrm>
            <a:off x="3504438" y="2468880"/>
            <a:ext cx="2452878" cy="2331720"/>
          </a:xfrm>
          <a:prstGeom prst="roundRect">
            <a:avLst>
              <a:gd name="adj" fmla="val 4000"/>
            </a:avLst>
          </a:prstGeom>
          <a:solidFill>
            <a:srgbClr val="F5F1FB"/>
          </a:solidFill>
          <a:ln w="12700">
            <a:solidFill>
              <a:srgbClr val="D9D3F0"/>
            </a:solidFill>
          </a:ln>
        </p:spPr>
        <p:txBody>
          <a:bodyPr wrap="square" lIns="201168" tIns="182880" rIns="182880" bIns="91440" rtlCol="0" anchor="t">
            <a:noAutofit/>
          </a:bodyPr>
          <a:lstStyle/>
          <a:p>
            <a:pPr marL="0" indent="0" algn="l">
              <a:spcBef>
                <a:spcPts val="0"/>
              </a:spcBef>
              <a:spcAft>
                <a:spcPts val="800"/>
              </a:spcAft>
              <a:buNone/>
            </a:pPr>
            <a:r>
              <a:rPr lang="en-US" sz="2100" b="1" dirty="0">
                <a:solidFill>
                  <a:srgbClr val="704EA6"/>
                </a:solidFill>
                <a:latin typeface="Calibri"/>
                <a:cs typeface="Calibri"/>
              </a:rPr>
              <a:t>Edge deployment</a:t>
            </a:r>
          </a:p>
          <a:p>
            <a:pPr marL="0" indent="0" algn="l">
              <a:spcBef>
                <a:spcPts val="0"/>
              </a:spcBef>
              <a:spcAft>
                <a:spcPts val="0"/>
              </a:spcAft>
              <a:buNone/>
            </a:pPr>
            <a:r>
              <a:rPr lang="en-US" sz="1600" b="0" dirty="0">
                <a:solidFill>
                  <a:srgbClr val="63637E"/>
                </a:solidFill>
                <a:latin typeface="Calibri"/>
                <a:cs typeface="Calibri"/>
              </a:rPr>
              <a:t>Run the Laya decision engine on-device for offline, near-zero-latency triage.</a:t>
            </a:r>
          </a:p>
        </p:txBody>
      </p:sp>
      <p:sp>
        <p:nvSpPr>
          <p:cNvPr id="163" name="Shape 163"/>
          <p:cNvSpPr/>
          <p:nvPr/>
        </p:nvSpPr>
        <p:spPr>
          <a:xfrm>
            <a:off x="6231636" y="1783080"/>
            <a:ext cx="2452878" cy="548640"/>
          </a:xfrm>
          <a:prstGeom prst="homePlate">
            <a:avLst/>
          </a:prstGeom>
          <a:solidFill>
            <a:srgbClr val="6D28D9"/>
          </a:solidFill>
          <a:ln>
            <a:noFill/>
          </a:ln>
        </p:spPr>
        <p:txBody>
          <a:bodyPr wrap="square" lIns="91440" tIns="0" rIns="274320" bIns="0" rtlCol="0" anchor="ctr">
            <a:noAutofit/>
          </a:bodyPr>
          <a:lstStyle/>
          <a:p>
            <a:pPr marL="0" indent="0" algn="ctr">
              <a:spcBef>
                <a:spcPts val="0"/>
              </a:spcBef>
              <a:spcAft>
                <a:spcPts val="0"/>
              </a:spcAft>
              <a:buNone/>
            </a:pPr>
            <a:r>
              <a:rPr lang="en-US" sz="1500" b="1" dirty="0">
                <a:solidFill>
                  <a:srgbClr val="FFFFFF"/>
                </a:solidFill>
                <a:latin typeface="Calibri"/>
                <a:cs typeface="Calibri"/>
              </a:rPr>
              <a:t>PHASE 3</a:t>
            </a:r>
          </a:p>
        </p:txBody>
      </p:sp>
      <p:sp>
        <p:nvSpPr>
          <p:cNvPr id="164" name="Shape 164"/>
          <p:cNvSpPr/>
          <p:nvPr/>
        </p:nvSpPr>
        <p:spPr>
          <a:xfrm>
            <a:off x="6231636" y="2468880"/>
            <a:ext cx="2452878" cy="2331720"/>
          </a:xfrm>
          <a:prstGeom prst="roundRect">
            <a:avLst>
              <a:gd name="adj" fmla="val 4000"/>
            </a:avLst>
          </a:prstGeom>
          <a:solidFill>
            <a:srgbClr val="F5F1FB"/>
          </a:solidFill>
          <a:ln w="12700">
            <a:solidFill>
              <a:srgbClr val="D9D3F0"/>
            </a:solidFill>
          </a:ln>
        </p:spPr>
        <p:txBody>
          <a:bodyPr wrap="square" lIns="201168" tIns="182880" rIns="182880" bIns="91440" rtlCol="0" anchor="t">
            <a:noAutofit/>
          </a:bodyPr>
          <a:lstStyle/>
          <a:p>
            <a:pPr marL="0" indent="0" algn="l">
              <a:spcBef>
                <a:spcPts val="0"/>
              </a:spcBef>
              <a:spcAft>
                <a:spcPts val="800"/>
              </a:spcAft>
              <a:buNone/>
            </a:pPr>
            <a:r>
              <a:rPr lang="en-US" sz="2100" b="1" dirty="0">
                <a:solidFill>
                  <a:srgbClr val="704EA6"/>
                </a:solidFill>
                <a:latin typeface="Calibri"/>
                <a:cs typeface="Calibri"/>
              </a:rPr>
              <a:t>Voice + Indic languages</a:t>
            </a:r>
          </a:p>
          <a:p>
            <a:pPr marL="0" indent="0" algn="l">
              <a:spcBef>
                <a:spcPts val="0"/>
              </a:spcBef>
              <a:spcAft>
                <a:spcPts val="0"/>
              </a:spcAft>
              <a:buNone/>
            </a:pPr>
            <a:r>
              <a:rPr lang="en-US" sz="1600" b="0" dirty="0">
                <a:solidFill>
                  <a:srgbClr val="63637E"/>
                </a:solidFill>
                <a:latin typeface="Calibri"/>
                <a:cs typeface="Calibri"/>
              </a:rPr>
              <a:t>Speak the problem in your own language; same typed decisions underneath.</a:t>
            </a:r>
          </a:p>
        </p:txBody>
      </p:sp>
      <p:sp>
        <p:nvSpPr>
          <p:cNvPr id="165" name="Shape 165"/>
          <p:cNvSpPr/>
          <p:nvPr/>
        </p:nvSpPr>
        <p:spPr>
          <a:xfrm>
            <a:off x="8958834" y="1783080"/>
            <a:ext cx="2452878" cy="548640"/>
          </a:xfrm>
          <a:prstGeom prst="homePlate">
            <a:avLst/>
          </a:prstGeom>
          <a:solidFill>
            <a:srgbClr val="6D28D9"/>
          </a:solidFill>
          <a:ln>
            <a:noFill/>
          </a:ln>
        </p:spPr>
        <p:txBody>
          <a:bodyPr wrap="square" lIns="91440" tIns="0" rIns="274320" bIns="0" rtlCol="0" anchor="ctr">
            <a:noAutofit/>
          </a:bodyPr>
          <a:lstStyle/>
          <a:p>
            <a:pPr marL="0" indent="0" algn="ctr">
              <a:spcBef>
                <a:spcPts val="0"/>
              </a:spcBef>
              <a:spcAft>
                <a:spcPts val="0"/>
              </a:spcAft>
              <a:buNone/>
            </a:pPr>
            <a:r>
              <a:rPr lang="en-US" sz="1500" b="1" dirty="0">
                <a:solidFill>
                  <a:srgbClr val="FFFFFF"/>
                </a:solidFill>
                <a:latin typeface="Calibri"/>
                <a:cs typeface="Calibri"/>
              </a:rPr>
              <a:t>PHASE 4</a:t>
            </a:r>
          </a:p>
        </p:txBody>
      </p:sp>
      <p:sp>
        <p:nvSpPr>
          <p:cNvPr id="166" name="Shape 166"/>
          <p:cNvSpPr/>
          <p:nvPr/>
        </p:nvSpPr>
        <p:spPr>
          <a:xfrm>
            <a:off x="8958834" y="2468880"/>
            <a:ext cx="2452878" cy="2331720"/>
          </a:xfrm>
          <a:prstGeom prst="roundRect">
            <a:avLst>
              <a:gd name="adj" fmla="val 4000"/>
            </a:avLst>
          </a:prstGeom>
          <a:solidFill>
            <a:srgbClr val="F5F1FB"/>
          </a:solidFill>
          <a:ln w="12700">
            <a:solidFill>
              <a:srgbClr val="D9D3F0"/>
            </a:solidFill>
          </a:ln>
        </p:spPr>
        <p:txBody>
          <a:bodyPr wrap="square" lIns="201168" tIns="182880" rIns="182880" bIns="91440" rtlCol="0" anchor="t">
            <a:noAutofit/>
          </a:bodyPr>
          <a:lstStyle/>
          <a:p>
            <a:pPr marL="0" indent="0" algn="l">
              <a:spcBef>
                <a:spcPts val="0"/>
              </a:spcBef>
              <a:spcAft>
                <a:spcPts val="800"/>
              </a:spcAft>
              <a:buNone/>
            </a:pPr>
            <a:r>
              <a:rPr lang="en-US" sz="2100" b="1" dirty="0">
                <a:solidFill>
                  <a:srgbClr val="704EA6"/>
                </a:solidFill>
                <a:latin typeface="Calibri"/>
                <a:cs typeface="Calibri"/>
              </a:rPr>
              <a:t>Learn from outcomes</a:t>
            </a:r>
          </a:p>
          <a:p>
            <a:pPr marL="0" indent="0" algn="l">
              <a:spcBef>
                <a:spcPts val="0"/>
              </a:spcBef>
              <a:spcAft>
                <a:spcPts val="0"/>
              </a:spcAft>
              <a:buNone/>
            </a:pPr>
            <a:r>
              <a:rPr lang="en-US" sz="1600" b="0" dirty="0">
                <a:solidFill>
                  <a:srgbClr val="63637E"/>
                </a:solidFill>
                <a:latin typeface="Calibri"/>
                <a:cs typeface="Calibri"/>
              </a:rPr>
              <a:t>Use resolved and escalated cases to sharpen the fast-gate and store routing.</a:t>
            </a:r>
          </a:p>
        </p:txBody>
      </p:sp>
      <p:sp>
        <p:nvSpPr>
          <p:cNvPr id="167" name="Shape 167"/>
          <p:cNvSpPr/>
          <p:nvPr/>
        </p:nvSpPr>
        <p:spPr>
          <a:xfrm>
            <a:off x="777240" y="5166360"/>
            <a:ext cx="10634472" cy="914400"/>
          </a:xfrm>
          <a:prstGeom prst="roundRect">
            <a:avLst>
              <a:gd name="adj" fmla="val 8000"/>
            </a:avLst>
          </a:prstGeom>
          <a:solidFill>
            <a:srgbClr val="14142B"/>
          </a:solidFill>
          <a:ln>
            <a:noFill/>
          </a:ln>
        </p:spPr>
        <p:txBody>
          <a:bodyPr wrap="square" lIns="274320" tIns="91440" rIns="274320" bIns="91440" rtlCol="0" anchor="ctr">
            <a:noAutofit/>
          </a:bodyPr>
          <a:lstStyle/>
          <a:p>
            <a:pPr marL="0" indent="0" algn="l">
              <a:spcBef>
                <a:spcPts val="0"/>
              </a:spcBef>
              <a:spcAft>
                <a:spcPts val="0"/>
              </a:spcAft>
              <a:buNone/>
            </a:pPr>
            <a:r>
              <a:rPr lang="en-US" sz="2000" b="1" dirty="0">
                <a:solidFill>
                  <a:srgbClr val="FFFFFF"/>
                </a:solidFill>
                <a:latin typeface="Calibri"/>
                <a:cs typeface="Calibri"/>
              </a:rPr>
              <a:t>Vision: </a:t>
            </a:r>
            <a:r>
              <a:rPr lang="en-US" sz="2000" b="0" dirty="0">
                <a:solidFill>
                  <a:srgbClr val="FFFFFF"/>
                </a:solidFill>
                <a:latin typeface="Calibri"/>
                <a:cs typeface="Calibri"/>
              </a:rPr>
              <a:t>a &lt;42 ms decision layer any device-support flow can plug into.</a:t>
            </a:r>
          </a:p>
        </p:txBody>
      </p:sp>
    </p:spTree>
    <p:extLst>
      <p:ext uri="{BB962C8B-B14F-4D97-AF65-F5344CB8AC3E}">
        <p14:creationId xmlns:p14="http://schemas.microsoft.com/office/powerpoint/2010/main" val="3985914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Brownie points slide( differentiation)</a:t>
            </a:r>
            <a:endParaRPr lang="en-US" sz="4400" b="1" dirty="0">
              <a:solidFill>
                <a:srgbClr val="704EA6"/>
              </a:solidFill>
            </a:endParaRPr>
          </a:p>
        </p:txBody>
      </p:sp>
      <p:sp>
        <p:nvSpPr>
          <p:cNvPr id="168" name="Shape 168"/>
          <p:cNvSpPr/>
          <p:nvPr/>
        </p:nvSpPr>
        <p:spPr>
          <a:xfrm>
            <a:off x="777240" y="1783080"/>
            <a:ext cx="2788920" cy="1280160"/>
          </a:xfrm>
          <a:prstGeom prst="roundRect">
            <a:avLst>
              <a:gd name="adj" fmla="val 6000"/>
            </a:avLst>
          </a:prstGeom>
          <a:solidFill>
            <a:srgbClr val="F5F1FB"/>
          </a:solidFill>
          <a:ln w="12700">
            <a:solidFill>
              <a:srgbClr val="D9D3F0"/>
            </a:solidFill>
          </a:ln>
        </p:spPr>
        <p:txBody>
          <a:bodyPr wrap="square" lIns="182880" tIns="73152" rIns="137160" bIns="73152" rtlCol="0" anchor="ctr">
            <a:noAutofit/>
          </a:bodyPr>
          <a:lstStyle/>
          <a:p>
            <a:pPr marL="0" indent="0" algn="l">
              <a:spcBef>
                <a:spcPts val="0"/>
              </a:spcBef>
              <a:spcAft>
                <a:spcPts val="500"/>
              </a:spcAft>
              <a:buNone/>
            </a:pPr>
            <a:r>
              <a:rPr lang="en-US" sz="1800" b="1" dirty="0">
                <a:solidFill>
                  <a:srgbClr val="704EA6"/>
                </a:solidFill>
                <a:latin typeface="Calibri"/>
                <a:cs typeface="Calibri"/>
              </a:rPr>
              <a:t>Type-safe by design</a:t>
            </a:r>
          </a:p>
          <a:p>
            <a:pPr marL="0" indent="0" algn="l">
              <a:spcBef>
                <a:spcPts val="0"/>
              </a:spcBef>
              <a:spcAft>
                <a:spcPts val="0"/>
              </a:spcAft>
              <a:buNone/>
            </a:pPr>
            <a:r>
              <a:rPr lang="en-US" sz="1500" b="0" dirty="0">
                <a:solidFill>
                  <a:srgbClr val="63637E"/>
                </a:solidFill>
                <a:latin typeface="Calibri"/>
                <a:cs typeface="Calibri"/>
              </a:rPr>
              <a:t>Typed primitives; categorical output only.</a:t>
            </a:r>
          </a:p>
        </p:txBody>
      </p:sp>
      <p:sp>
        <p:nvSpPr>
          <p:cNvPr id="169" name="Shape 169"/>
          <p:cNvSpPr/>
          <p:nvPr/>
        </p:nvSpPr>
        <p:spPr>
          <a:xfrm>
            <a:off x="3749040" y="1783080"/>
            <a:ext cx="2788920" cy="1280160"/>
          </a:xfrm>
          <a:prstGeom prst="roundRect">
            <a:avLst>
              <a:gd name="adj" fmla="val 6000"/>
            </a:avLst>
          </a:prstGeom>
          <a:solidFill>
            <a:srgbClr val="F5F1FB"/>
          </a:solidFill>
          <a:ln w="12700">
            <a:solidFill>
              <a:srgbClr val="D9D3F0"/>
            </a:solidFill>
          </a:ln>
        </p:spPr>
        <p:txBody>
          <a:bodyPr wrap="square" lIns="182880" tIns="73152" rIns="137160" bIns="73152" rtlCol="0" anchor="ctr">
            <a:noAutofit/>
          </a:bodyPr>
          <a:lstStyle/>
          <a:p>
            <a:pPr marL="0" indent="0" algn="l">
              <a:spcBef>
                <a:spcPts val="0"/>
              </a:spcBef>
              <a:spcAft>
                <a:spcPts val="500"/>
              </a:spcAft>
              <a:buNone/>
            </a:pPr>
            <a:r>
              <a:rPr lang="en-US" sz="1800" b="1" dirty="0">
                <a:solidFill>
                  <a:srgbClr val="704EA6"/>
                </a:solidFill>
                <a:latin typeface="Calibri"/>
                <a:cs typeface="Calibri"/>
              </a:rPr>
              <a:t>Zero-token hot path</a:t>
            </a:r>
          </a:p>
          <a:p>
            <a:pPr marL="0" indent="0" algn="l">
              <a:spcBef>
                <a:spcPts val="0"/>
              </a:spcBef>
              <a:spcAft>
                <a:spcPts val="0"/>
              </a:spcAft>
              <a:buNone/>
            </a:pPr>
            <a:r>
              <a:rPr lang="en-US" sz="1500" b="0" dirty="0">
                <a:solidFill>
                  <a:srgbClr val="63637E"/>
                </a:solidFill>
                <a:latin typeface="Calibri"/>
                <a:cs typeface="Calibri"/>
              </a:rPr>
              <a:t>Saves 1,420 tokens per session.</a:t>
            </a:r>
          </a:p>
        </p:txBody>
      </p:sp>
      <p:sp>
        <p:nvSpPr>
          <p:cNvPr id="170" name="Shape 170"/>
          <p:cNvSpPr/>
          <p:nvPr/>
        </p:nvSpPr>
        <p:spPr>
          <a:xfrm>
            <a:off x="777240" y="3246120"/>
            <a:ext cx="2788920" cy="1280160"/>
          </a:xfrm>
          <a:prstGeom prst="roundRect">
            <a:avLst>
              <a:gd name="adj" fmla="val 6000"/>
            </a:avLst>
          </a:prstGeom>
          <a:solidFill>
            <a:srgbClr val="F5F1FB"/>
          </a:solidFill>
          <a:ln w="12700">
            <a:solidFill>
              <a:srgbClr val="D9D3F0"/>
            </a:solidFill>
          </a:ln>
        </p:spPr>
        <p:txBody>
          <a:bodyPr wrap="square" lIns="182880" tIns="73152" rIns="137160" bIns="73152" rtlCol="0" anchor="ctr">
            <a:noAutofit/>
          </a:bodyPr>
          <a:lstStyle/>
          <a:p>
            <a:pPr marL="0" indent="0" algn="l">
              <a:spcBef>
                <a:spcPts val="0"/>
              </a:spcBef>
              <a:spcAft>
                <a:spcPts val="500"/>
              </a:spcAft>
              <a:buNone/>
            </a:pPr>
            <a:r>
              <a:rPr lang="en-US" sz="1800" b="1" dirty="0">
                <a:solidFill>
                  <a:srgbClr val="704EA6"/>
                </a:solidFill>
                <a:latin typeface="Calibri"/>
                <a:cs typeface="Calibri"/>
              </a:rPr>
              <a:t>&lt;42 ms end-to-end</a:t>
            </a:r>
          </a:p>
          <a:p>
            <a:pPr marL="0" indent="0" algn="l">
              <a:spcBef>
                <a:spcPts val="0"/>
              </a:spcBef>
              <a:spcAft>
                <a:spcPts val="0"/>
              </a:spcAft>
              <a:buNone/>
            </a:pPr>
            <a:r>
              <a:rPr lang="en-US" sz="1500" b="0" dirty="0">
                <a:solidFill>
                  <a:srgbClr val="63637E"/>
                </a:solidFill>
                <a:latin typeface="Calibri"/>
                <a:cs typeface="Calibri"/>
              </a:rPr>
              <a:t>20× faster than LLM-based flows.</a:t>
            </a:r>
          </a:p>
        </p:txBody>
      </p:sp>
      <p:sp>
        <p:nvSpPr>
          <p:cNvPr id="171" name="Shape 171"/>
          <p:cNvSpPr/>
          <p:nvPr/>
        </p:nvSpPr>
        <p:spPr>
          <a:xfrm>
            <a:off x="3749040" y="3246120"/>
            <a:ext cx="2788920" cy="1280160"/>
          </a:xfrm>
          <a:prstGeom prst="roundRect">
            <a:avLst>
              <a:gd name="adj" fmla="val 6000"/>
            </a:avLst>
          </a:prstGeom>
          <a:solidFill>
            <a:srgbClr val="F5F1FB"/>
          </a:solidFill>
          <a:ln w="12700">
            <a:solidFill>
              <a:srgbClr val="D9D3F0"/>
            </a:solidFill>
          </a:ln>
        </p:spPr>
        <p:txBody>
          <a:bodyPr wrap="square" lIns="182880" tIns="73152" rIns="137160" bIns="73152" rtlCol="0" anchor="ctr">
            <a:noAutofit/>
          </a:bodyPr>
          <a:lstStyle/>
          <a:p>
            <a:pPr marL="0" indent="0" algn="l">
              <a:spcBef>
                <a:spcPts val="0"/>
              </a:spcBef>
              <a:spcAft>
                <a:spcPts val="500"/>
              </a:spcAft>
              <a:buNone/>
            </a:pPr>
            <a:r>
              <a:rPr lang="en-US" sz="1800" b="1" dirty="0">
                <a:solidFill>
                  <a:srgbClr val="704EA6"/>
                </a:solidFill>
                <a:latin typeface="Calibri"/>
                <a:cs typeface="Calibri"/>
              </a:rPr>
              <a:t>Hybrid 3-tier RAG</a:t>
            </a:r>
          </a:p>
          <a:p>
            <a:pPr marL="0" indent="0" algn="l">
              <a:spcBef>
                <a:spcPts val="0"/>
              </a:spcBef>
              <a:spcAft>
                <a:spcPts val="0"/>
              </a:spcAft>
              <a:buNone/>
            </a:pPr>
            <a:r>
              <a:rPr lang="en-US" sz="1500" b="0" dirty="0">
                <a:solidFill>
                  <a:srgbClr val="63637E"/>
                </a:solidFill>
                <a:latin typeface="Calibri"/>
                <a:cs typeface="Calibri"/>
              </a:rPr>
              <a:t>Fast-gate, AI arbitration, verified search.</a:t>
            </a:r>
          </a:p>
        </p:txBody>
      </p:sp>
      <p:sp>
        <p:nvSpPr>
          <p:cNvPr id="172" name="Shape 172"/>
          <p:cNvSpPr/>
          <p:nvPr/>
        </p:nvSpPr>
        <p:spPr>
          <a:xfrm>
            <a:off x="777240" y="4709160"/>
            <a:ext cx="2788920" cy="1280160"/>
          </a:xfrm>
          <a:prstGeom prst="roundRect">
            <a:avLst>
              <a:gd name="adj" fmla="val 6000"/>
            </a:avLst>
          </a:prstGeom>
          <a:solidFill>
            <a:srgbClr val="F5F1FB"/>
          </a:solidFill>
          <a:ln w="12700">
            <a:solidFill>
              <a:srgbClr val="D9D3F0"/>
            </a:solidFill>
          </a:ln>
        </p:spPr>
        <p:txBody>
          <a:bodyPr wrap="square" lIns="182880" tIns="73152" rIns="137160" bIns="73152" rtlCol="0" anchor="ctr">
            <a:noAutofit/>
          </a:bodyPr>
          <a:lstStyle/>
          <a:p>
            <a:pPr marL="0" indent="0" algn="l">
              <a:spcBef>
                <a:spcPts val="0"/>
              </a:spcBef>
              <a:spcAft>
                <a:spcPts val="500"/>
              </a:spcAft>
              <a:buNone/>
            </a:pPr>
            <a:r>
              <a:rPr lang="en-US" sz="1800" b="1" dirty="0">
                <a:solidFill>
                  <a:srgbClr val="704EA6"/>
                </a:solidFill>
                <a:latin typeface="Calibri"/>
                <a:cs typeface="Calibri"/>
              </a:rPr>
              <a:t>Verified answers only</a:t>
            </a:r>
          </a:p>
          <a:p>
            <a:pPr marL="0" indent="0" algn="l">
              <a:spcBef>
                <a:spcPts val="0"/>
              </a:spcBef>
              <a:spcAft>
                <a:spcPts val="0"/>
              </a:spcAft>
              <a:buNone/>
            </a:pPr>
            <a:r>
              <a:rPr lang="en-US" sz="1500" b="0" dirty="0">
                <a:solidFill>
                  <a:srgbClr val="63637E"/>
                </a:solidFill>
                <a:latin typeface="Calibri"/>
                <a:cs typeface="Calibri"/>
              </a:rPr>
              <a:t>Steps come from a curated corpus.</a:t>
            </a:r>
          </a:p>
        </p:txBody>
      </p:sp>
      <p:sp>
        <p:nvSpPr>
          <p:cNvPr id="173" name="Shape 173"/>
          <p:cNvSpPr/>
          <p:nvPr/>
        </p:nvSpPr>
        <p:spPr>
          <a:xfrm>
            <a:off x="3749040" y="4709160"/>
            <a:ext cx="2788920" cy="1280160"/>
          </a:xfrm>
          <a:prstGeom prst="roundRect">
            <a:avLst>
              <a:gd name="adj" fmla="val 6000"/>
            </a:avLst>
          </a:prstGeom>
          <a:solidFill>
            <a:srgbClr val="F5F1FB"/>
          </a:solidFill>
          <a:ln w="12700">
            <a:solidFill>
              <a:srgbClr val="D9D3F0"/>
            </a:solidFill>
          </a:ln>
        </p:spPr>
        <p:txBody>
          <a:bodyPr wrap="square" lIns="182880" tIns="73152" rIns="137160" bIns="73152" rtlCol="0" anchor="ctr">
            <a:noAutofit/>
          </a:bodyPr>
          <a:lstStyle/>
          <a:p>
            <a:pPr marL="0" indent="0" algn="l">
              <a:spcBef>
                <a:spcPts val="0"/>
              </a:spcBef>
              <a:spcAft>
                <a:spcPts val="500"/>
              </a:spcAft>
              <a:buNone/>
            </a:pPr>
            <a:r>
              <a:rPr lang="en-US" sz="1800" b="1" dirty="0">
                <a:solidFill>
                  <a:srgbClr val="704EA6"/>
                </a:solidFill>
                <a:latin typeface="Calibri"/>
                <a:cs typeface="Calibri"/>
              </a:rPr>
              <a:t>Never a dead end</a:t>
            </a:r>
          </a:p>
          <a:p>
            <a:pPr marL="0" indent="0" algn="l">
              <a:spcBef>
                <a:spcPts val="0"/>
              </a:spcBef>
              <a:spcAft>
                <a:spcPts val="0"/>
              </a:spcAft>
              <a:buNone/>
            </a:pPr>
            <a:r>
              <a:rPr lang="en-US" sz="1500" b="0" dirty="0">
                <a:solidFill>
                  <a:srgbClr val="63637E"/>
                </a:solidFill>
                <a:latin typeface="Calibri"/>
                <a:cs typeface="Calibri"/>
              </a:rPr>
              <a:t>Store locator + compose email fallback.</a:t>
            </a:r>
          </a:p>
        </p:txBody>
      </p:sp>
      <p:sp>
        <p:nvSpPr>
          <p:cNvPr id="174" name="Shape 174"/>
          <p:cNvSpPr/>
          <p:nvPr/>
        </p:nvSpPr>
        <p:spPr>
          <a:xfrm>
            <a:off x="6858000" y="1783080"/>
            <a:ext cx="1417320" cy="621792"/>
          </a:xfrm>
          <a:prstGeom prst="rect">
            <a:avLst/>
          </a:prstGeom>
          <a:noFill/>
          <a:ln>
            <a:noFill/>
          </a:ln>
        </p:spPr>
        <p:txBody>
          <a:bodyPr wrap="square" lIns="45720" tIns="27432" rIns="45720" bIns="27432" rtlCol="0" anchor="ctr">
            <a:noAutofit/>
          </a:bodyPr>
          <a:lstStyle/>
          <a:p>
            <a:endParaRPr lang="en-US"/>
          </a:p>
        </p:txBody>
      </p:sp>
      <p:sp>
        <p:nvSpPr>
          <p:cNvPr id="175" name="Shape 175"/>
          <p:cNvSpPr/>
          <p:nvPr/>
        </p:nvSpPr>
        <p:spPr>
          <a:xfrm>
            <a:off x="8275320" y="1783080"/>
            <a:ext cx="1417320" cy="621792"/>
          </a:xfrm>
          <a:prstGeom prst="rect">
            <a:avLst/>
          </a:prstGeom>
          <a:solidFill>
            <a:srgbClr val="63637E"/>
          </a:solidFill>
          <a:ln>
            <a:noFill/>
          </a:ln>
        </p:spPr>
        <p:txBody>
          <a:bodyPr wrap="square" lIns="45720" tIns="27432" rIns="45720" bIns="27432" rtlCol="0" anchor="ctr">
            <a:noAutofit/>
          </a:bodyPr>
          <a:lstStyle/>
          <a:p>
            <a:pPr marL="0" indent="0" algn="ctr">
              <a:spcBef>
                <a:spcPts val="0"/>
              </a:spcBef>
              <a:spcAft>
                <a:spcPts val="0"/>
              </a:spcAft>
              <a:buNone/>
            </a:pPr>
            <a:r>
              <a:rPr lang="en-US" sz="1500" b="1" dirty="0">
                <a:solidFill>
                  <a:srgbClr val="FFFFFF"/>
                </a:solidFill>
                <a:latin typeface="Calibri"/>
                <a:cs typeface="Calibri"/>
              </a:rPr>
              <a:t>LLM-based</a:t>
            </a:r>
          </a:p>
        </p:txBody>
      </p:sp>
      <p:sp>
        <p:nvSpPr>
          <p:cNvPr id="176" name="Shape 176"/>
          <p:cNvSpPr/>
          <p:nvPr/>
        </p:nvSpPr>
        <p:spPr>
          <a:xfrm>
            <a:off x="9692640" y="1783080"/>
            <a:ext cx="1764792" cy="621792"/>
          </a:xfrm>
          <a:prstGeom prst="rect">
            <a:avLst/>
          </a:prstGeom>
          <a:solidFill>
            <a:srgbClr val="6D28D9"/>
          </a:solidFill>
          <a:ln>
            <a:noFill/>
          </a:ln>
        </p:spPr>
        <p:txBody>
          <a:bodyPr wrap="square" lIns="45720" tIns="27432" rIns="45720" bIns="27432" rtlCol="0" anchor="ctr">
            <a:noAutofit/>
          </a:bodyPr>
          <a:lstStyle/>
          <a:p>
            <a:pPr marL="0" indent="0" algn="ctr">
              <a:spcBef>
                <a:spcPts val="0"/>
              </a:spcBef>
              <a:spcAft>
                <a:spcPts val="0"/>
              </a:spcAft>
              <a:buNone/>
            </a:pPr>
            <a:r>
              <a:rPr lang="en-US" sz="1500" b="1" dirty="0">
                <a:solidFill>
                  <a:srgbClr val="FFFFFF"/>
                </a:solidFill>
                <a:latin typeface="Calibri"/>
                <a:cs typeface="Calibri"/>
              </a:rPr>
              <a:t>Ours</a:t>
            </a:r>
          </a:p>
        </p:txBody>
      </p:sp>
      <p:sp>
        <p:nvSpPr>
          <p:cNvPr id="177" name="Shape 177"/>
          <p:cNvSpPr/>
          <p:nvPr/>
        </p:nvSpPr>
        <p:spPr>
          <a:xfrm>
            <a:off x="6858000" y="2468880"/>
            <a:ext cx="1417320" cy="621792"/>
          </a:xfrm>
          <a:prstGeom prst="rect">
            <a:avLst/>
          </a:prstGeom>
          <a:solidFill>
            <a:srgbClr val="F5F1FB"/>
          </a:solidFill>
          <a:ln>
            <a:noFill/>
          </a:ln>
        </p:spPr>
        <p:txBody>
          <a:bodyPr wrap="square" lIns="45720" tIns="27432" rIns="45720" bIns="27432" rtlCol="0" anchor="ctr">
            <a:noAutofit/>
          </a:bodyPr>
          <a:lstStyle/>
          <a:p>
            <a:pPr marL="0" indent="0" algn="ctr">
              <a:spcBef>
                <a:spcPts val="0"/>
              </a:spcBef>
              <a:spcAft>
                <a:spcPts val="0"/>
              </a:spcAft>
              <a:buNone/>
            </a:pPr>
            <a:r>
              <a:rPr lang="en-US" sz="1500" b="1" dirty="0">
                <a:solidFill>
                  <a:srgbClr val="14142B"/>
                </a:solidFill>
                <a:latin typeface="Calibri"/>
                <a:cs typeface="Calibri"/>
              </a:rPr>
              <a:t>Latency</a:t>
            </a:r>
          </a:p>
        </p:txBody>
      </p:sp>
      <p:sp>
        <p:nvSpPr>
          <p:cNvPr id="178" name="Shape 178"/>
          <p:cNvSpPr/>
          <p:nvPr/>
        </p:nvSpPr>
        <p:spPr>
          <a:xfrm>
            <a:off x="8275320" y="2468880"/>
            <a:ext cx="1417320" cy="621792"/>
          </a:xfrm>
          <a:prstGeom prst="rect">
            <a:avLst/>
          </a:prstGeom>
          <a:solidFill>
            <a:srgbClr val="F5F1FB"/>
          </a:solidFill>
          <a:ln>
            <a:noFill/>
          </a:ln>
        </p:spPr>
        <p:txBody>
          <a:bodyPr wrap="square" lIns="45720" tIns="27432" rIns="45720" bIns="27432" rtlCol="0" anchor="ctr">
            <a:noAutofit/>
          </a:bodyPr>
          <a:lstStyle/>
          <a:p>
            <a:pPr marL="0" indent="0" algn="ctr">
              <a:spcBef>
                <a:spcPts val="0"/>
              </a:spcBef>
              <a:spcAft>
                <a:spcPts val="0"/>
              </a:spcAft>
              <a:buNone/>
            </a:pPr>
            <a:r>
              <a:rPr lang="en-US" sz="1500" b="0" dirty="0">
                <a:solidFill>
                  <a:srgbClr val="14142B"/>
                </a:solidFill>
                <a:latin typeface="Calibri"/>
                <a:cs typeface="Calibri"/>
              </a:rPr>
              <a:t>~840 ms</a:t>
            </a:r>
          </a:p>
        </p:txBody>
      </p:sp>
      <p:sp>
        <p:nvSpPr>
          <p:cNvPr id="179" name="Shape 179"/>
          <p:cNvSpPr/>
          <p:nvPr/>
        </p:nvSpPr>
        <p:spPr>
          <a:xfrm>
            <a:off x="9692640" y="2468880"/>
            <a:ext cx="1764792" cy="621792"/>
          </a:xfrm>
          <a:prstGeom prst="rect">
            <a:avLst/>
          </a:prstGeom>
          <a:solidFill>
            <a:srgbClr val="E9E1F8"/>
          </a:solidFill>
          <a:ln>
            <a:noFill/>
          </a:ln>
        </p:spPr>
        <p:txBody>
          <a:bodyPr wrap="square" lIns="45720" tIns="27432" rIns="45720" bIns="27432" rtlCol="0" anchor="ctr">
            <a:noAutofit/>
          </a:bodyPr>
          <a:lstStyle/>
          <a:p>
            <a:pPr marL="0" indent="0" algn="ctr">
              <a:spcBef>
                <a:spcPts val="0"/>
              </a:spcBef>
              <a:spcAft>
                <a:spcPts val="0"/>
              </a:spcAft>
              <a:buNone/>
            </a:pPr>
            <a:r>
              <a:rPr lang="en-US" sz="1500" b="1" dirty="0">
                <a:solidFill>
                  <a:srgbClr val="6D28D9"/>
                </a:solidFill>
                <a:latin typeface="Calibri"/>
                <a:cs typeface="Calibri"/>
              </a:rPr>
              <a:t>&lt;42 ms</a:t>
            </a:r>
          </a:p>
        </p:txBody>
      </p:sp>
      <p:sp>
        <p:nvSpPr>
          <p:cNvPr id="180" name="Shape 180"/>
          <p:cNvSpPr/>
          <p:nvPr/>
        </p:nvSpPr>
        <p:spPr>
          <a:xfrm>
            <a:off x="6858000" y="3154680"/>
            <a:ext cx="1417320" cy="621792"/>
          </a:xfrm>
          <a:prstGeom prst="rect">
            <a:avLst/>
          </a:prstGeom>
          <a:solidFill>
            <a:srgbClr val="F5F1FB"/>
          </a:solidFill>
          <a:ln>
            <a:noFill/>
          </a:ln>
        </p:spPr>
        <p:txBody>
          <a:bodyPr wrap="square" lIns="45720" tIns="27432" rIns="45720" bIns="27432" rtlCol="0" anchor="ctr">
            <a:noAutofit/>
          </a:bodyPr>
          <a:lstStyle/>
          <a:p>
            <a:pPr marL="0" indent="0" algn="ctr">
              <a:spcBef>
                <a:spcPts val="0"/>
              </a:spcBef>
              <a:spcAft>
                <a:spcPts val="0"/>
              </a:spcAft>
              <a:buNone/>
            </a:pPr>
            <a:r>
              <a:rPr lang="en-US" sz="1500" b="1" dirty="0">
                <a:solidFill>
                  <a:srgbClr val="14142B"/>
                </a:solidFill>
                <a:latin typeface="Calibri"/>
                <a:cs typeface="Calibri"/>
              </a:rPr>
              <a:t>Tokens</a:t>
            </a:r>
          </a:p>
        </p:txBody>
      </p:sp>
      <p:sp>
        <p:nvSpPr>
          <p:cNvPr id="181" name="Shape 181"/>
          <p:cNvSpPr/>
          <p:nvPr/>
        </p:nvSpPr>
        <p:spPr>
          <a:xfrm>
            <a:off x="8275320" y="3154680"/>
            <a:ext cx="1417320" cy="621792"/>
          </a:xfrm>
          <a:prstGeom prst="rect">
            <a:avLst/>
          </a:prstGeom>
          <a:solidFill>
            <a:srgbClr val="F5F1FB"/>
          </a:solidFill>
          <a:ln>
            <a:noFill/>
          </a:ln>
        </p:spPr>
        <p:txBody>
          <a:bodyPr wrap="square" lIns="45720" tIns="27432" rIns="45720" bIns="27432" rtlCol="0" anchor="ctr">
            <a:noAutofit/>
          </a:bodyPr>
          <a:lstStyle/>
          <a:p>
            <a:pPr marL="0" indent="0" algn="ctr">
              <a:spcBef>
                <a:spcPts val="0"/>
              </a:spcBef>
              <a:spcAft>
                <a:spcPts val="0"/>
              </a:spcAft>
              <a:buNone/>
            </a:pPr>
            <a:r>
              <a:rPr lang="en-US" sz="1500" b="0" dirty="0">
                <a:solidFill>
                  <a:srgbClr val="14142B"/>
                </a:solidFill>
                <a:latin typeface="Calibri"/>
                <a:cs typeface="Calibri"/>
              </a:rPr>
              <a:t>Full generation</a:t>
            </a:r>
          </a:p>
        </p:txBody>
      </p:sp>
      <p:sp>
        <p:nvSpPr>
          <p:cNvPr id="182" name="Shape 182"/>
          <p:cNvSpPr/>
          <p:nvPr/>
        </p:nvSpPr>
        <p:spPr>
          <a:xfrm>
            <a:off x="9692640" y="3154680"/>
            <a:ext cx="1764792" cy="621792"/>
          </a:xfrm>
          <a:prstGeom prst="rect">
            <a:avLst/>
          </a:prstGeom>
          <a:solidFill>
            <a:srgbClr val="E9E1F8"/>
          </a:solidFill>
          <a:ln>
            <a:noFill/>
          </a:ln>
        </p:spPr>
        <p:txBody>
          <a:bodyPr wrap="square" lIns="45720" tIns="27432" rIns="45720" bIns="27432" rtlCol="0" anchor="ctr">
            <a:noAutofit/>
          </a:bodyPr>
          <a:lstStyle/>
          <a:p>
            <a:pPr marL="0" indent="0" algn="ctr">
              <a:spcBef>
                <a:spcPts val="0"/>
              </a:spcBef>
              <a:spcAft>
                <a:spcPts val="0"/>
              </a:spcAft>
              <a:buNone/>
            </a:pPr>
            <a:r>
              <a:rPr lang="en-US" sz="1500" b="1" dirty="0">
                <a:solidFill>
                  <a:srgbClr val="6D28D9"/>
                </a:solidFill>
                <a:latin typeface="Calibri"/>
                <a:cs typeface="Calibri"/>
              </a:rPr>
              <a:t>1,420 saved</a:t>
            </a:r>
          </a:p>
        </p:txBody>
      </p:sp>
      <p:sp>
        <p:nvSpPr>
          <p:cNvPr id="183" name="Shape 183"/>
          <p:cNvSpPr/>
          <p:nvPr/>
        </p:nvSpPr>
        <p:spPr>
          <a:xfrm>
            <a:off x="6858000" y="3840480"/>
            <a:ext cx="1417320" cy="621792"/>
          </a:xfrm>
          <a:prstGeom prst="rect">
            <a:avLst/>
          </a:prstGeom>
          <a:solidFill>
            <a:srgbClr val="F5F1FB"/>
          </a:solidFill>
          <a:ln>
            <a:noFill/>
          </a:ln>
        </p:spPr>
        <p:txBody>
          <a:bodyPr wrap="square" lIns="45720" tIns="27432" rIns="45720" bIns="27432" rtlCol="0" anchor="ctr">
            <a:noAutofit/>
          </a:bodyPr>
          <a:lstStyle/>
          <a:p>
            <a:pPr marL="0" indent="0" algn="ctr">
              <a:spcBef>
                <a:spcPts val="0"/>
              </a:spcBef>
              <a:spcAft>
                <a:spcPts val="0"/>
              </a:spcAft>
              <a:buNone/>
            </a:pPr>
            <a:r>
              <a:rPr lang="en-US" sz="1500" b="1" dirty="0">
                <a:solidFill>
                  <a:srgbClr val="14142B"/>
                </a:solidFill>
                <a:latin typeface="Calibri"/>
                <a:cs typeface="Calibri"/>
              </a:rPr>
              <a:t>Output</a:t>
            </a:r>
          </a:p>
        </p:txBody>
      </p:sp>
      <p:sp>
        <p:nvSpPr>
          <p:cNvPr id="184" name="Shape 184"/>
          <p:cNvSpPr/>
          <p:nvPr/>
        </p:nvSpPr>
        <p:spPr>
          <a:xfrm>
            <a:off x="8275320" y="3840480"/>
            <a:ext cx="1417320" cy="621792"/>
          </a:xfrm>
          <a:prstGeom prst="rect">
            <a:avLst/>
          </a:prstGeom>
          <a:solidFill>
            <a:srgbClr val="F5F1FB"/>
          </a:solidFill>
          <a:ln>
            <a:noFill/>
          </a:ln>
        </p:spPr>
        <p:txBody>
          <a:bodyPr wrap="square" lIns="45720" tIns="27432" rIns="45720" bIns="27432" rtlCol="0" anchor="ctr">
            <a:noAutofit/>
          </a:bodyPr>
          <a:lstStyle/>
          <a:p>
            <a:pPr marL="0" indent="0" algn="ctr">
              <a:spcBef>
                <a:spcPts val="0"/>
              </a:spcBef>
              <a:spcAft>
                <a:spcPts val="0"/>
              </a:spcAft>
              <a:buNone/>
            </a:pPr>
            <a:r>
              <a:rPr lang="en-US" sz="1500" b="0" dirty="0">
                <a:solidFill>
                  <a:srgbClr val="14142B"/>
                </a:solidFill>
                <a:latin typeface="Calibri"/>
                <a:cs typeface="Calibri"/>
              </a:rPr>
              <a:t>Free text</a:t>
            </a:r>
          </a:p>
        </p:txBody>
      </p:sp>
      <p:sp>
        <p:nvSpPr>
          <p:cNvPr id="185" name="Shape 185"/>
          <p:cNvSpPr/>
          <p:nvPr/>
        </p:nvSpPr>
        <p:spPr>
          <a:xfrm>
            <a:off x="9692640" y="3840480"/>
            <a:ext cx="1764792" cy="621792"/>
          </a:xfrm>
          <a:prstGeom prst="rect">
            <a:avLst/>
          </a:prstGeom>
          <a:solidFill>
            <a:srgbClr val="E9E1F8"/>
          </a:solidFill>
          <a:ln>
            <a:noFill/>
          </a:ln>
        </p:spPr>
        <p:txBody>
          <a:bodyPr wrap="square" lIns="45720" tIns="27432" rIns="45720" bIns="27432" rtlCol="0" anchor="ctr">
            <a:noAutofit/>
          </a:bodyPr>
          <a:lstStyle/>
          <a:p>
            <a:pPr marL="0" indent="0" algn="ctr">
              <a:spcBef>
                <a:spcPts val="0"/>
              </a:spcBef>
              <a:spcAft>
                <a:spcPts val="0"/>
              </a:spcAft>
              <a:buNone/>
            </a:pPr>
            <a:r>
              <a:rPr lang="en-US" sz="1500" b="1" dirty="0">
                <a:solidFill>
                  <a:srgbClr val="6D28D9"/>
                </a:solidFill>
                <a:latin typeface="Calibri"/>
                <a:cs typeface="Calibri"/>
              </a:rPr>
              <a:t>Typed categories</a:t>
            </a:r>
          </a:p>
        </p:txBody>
      </p:sp>
      <p:sp>
        <p:nvSpPr>
          <p:cNvPr id="186" name="Shape 186"/>
          <p:cNvSpPr/>
          <p:nvPr/>
        </p:nvSpPr>
        <p:spPr>
          <a:xfrm>
            <a:off x="6858000" y="4526280"/>
            <a:ext cx="1417320" cy="621792"/>
          </a:xfrm>
          <a:prstGeom prst="rect">
            <a:avLst/>
          </a:prstGeom>
          <a:solidFill>
            <a:srgbClr val="F5F1FB"/>
          </a:solidFill>
          <a:ln>
            <a:noFill/>
          </a:ln>
        </p:spPr>
        <p:txBody>
          <a:bodyPr wrap="square" lIns="45720" tIns="27432" rIns="45720" bIns="27432" rtlCol="0" anchor="ctr">
            <a:noAutofit/>
          </a:bodyPr>
          <a:lstStyle/>
          <a:p>
            <a:pPr marL="0" indent="0" algn="ctr">
              <a:spcBef>
                <a:spcPts val="0"/>
              </a:spcBef>
              <a:spcAft>
                <a:spcPts val="0"/>
              </a:spcAft>
              <a:buNone/>
            </a:pPr>
            <a:r>
              <a:rPr lang="en-US" sz="1500" b="1" dirty="0">
                <a:solidFill>
                  <a:srgbClr val="14142B"/>
                </a:solidFill>
                <a:latin typeface="Calibri"/>
                <a:cs typeface="Calibri"/>
              </a:rPr>
              <a:t>Decisions</a:t>
            </a:r>
          </a:p>
        </p:txBody>
      </p:sp>
      <p:sp>
        <p:nvSpPr>
          <p:cNvPr id="187" name="Shape 187"/>
          <p:cNvSpPr/>
          <p:nvPr/>
        </p:nvSpPr>
        <p:spPr>
          <a:xfrm>
            <a:off x="8275320" y="4526280"/>
            <a:ext cx="1417320" cy="621792"/>
          </a:xfrm>
          <a:prstGeom prst="rect">
            <a:avLst/>
          </a:prstGeom>
          <a:solidFill>
            <a:srgbClr val="F5F1FB"/>
          </a:solidFill>
          <a:ln>
            <a:noFill/>
          </a:ln>
        </p:spPr>
        <p:txBody>
          <a:bodyPr wrap="square" lIns="45720" tIns="27432" rIns="45720" bIns="27432" rtlCol="0" anchor="ctr">
            <a:noAutofit/>
          </a:bodyPr>
          <a:lstStyle/>
          <a:p>
            <a:pPr marL="0" indent="0" algn="ctr">
              <a:spcBef>
                <a:spcPts val="0"/>
              </a:spcBef>
              <a:spcAft>
                <a:spcPts val="0"/>
              </a:spcAft>
              <a:buNone/>
            </a:pPr>
            <a:r>
              <a:rPr lang="en-US" sz="1500" b="0" dirty="0">
                <a:solidFill>
                  <a:srgbClr val="14142B"/>
                </a:solidFill>
                <a:latin typeface="Calibri"/>
                <a:cs typeface="Calibri"/>
              </a:rPr>
              <a:t>Vary run to run</a:t>
            </a:r>
          </a:p>
        </p:txBody>
      </p:sp>
      <p:sp>
        <p:nvSpPr>
          <p:cNvPr id="188" name="Shape 188"/>
          <p:cNvSpPr/>
          <p:nvPr/>
        </p:nvSpPr>
        <p:spPr>
          <a:xfrm>
            <a:off x="9692640" y="4526280"/>
            <a:ext cx="1764792" cy="621792"/>
          </a:xfrm>
          <a:prstGeom prst="rect">
            <a:avLst/>
          </a:prstGeom>
          <a:solidFill>
            <a:srgbClr val="E9E1F8"/>
          </a:solidFill>
          <a:ln>
            <a:noFill/>
          </a:ln>
        </p:spPr>
        <p:txBody>
          <a:bodyPr wrap="square" lIns="45720" tIns="27432" rIns="45720" bIns="27432" rtlCol="0" anchor="ctr">
            <a:noAutofit/>
          </a:bodyPr>
          <a:lstStyle/>
          <a:p>
            <a:pPr marL="0" indent="0" algn="ctr">
              <a:spcBef>
                <a:spcPts val="0"/>
              </a:spcBef>
              <a:spcAft>
                <a:spcPts val="0"/>
              </a:spcAft>
              <a:buNone/>
            </a:pPr>
            <a:r>
              <a:rPr lang="en-US" sz="1500" b="1" dirty="0">
                <a:solidFill>
                  <a:srgbClr val="6D28D9"/>
                </a:solidFill>
                <a:latin typeface="Calibri"/>
                <a:cs typeface="Calibri"/>
              </a:rPr>
              <a:t>Deterministic</a:t>
            </a:r>
          </a:p>
        </p:txBody>
      </p:sp>
      <p:sp>
        <p:nvSpPr>
          <p:cNvPr id="189" name="Shape 189"/>
          <p:cNvSpPr/>
          <p:nvPr/>
        </p:nvSpPr>
        <p:spPr>
          <a:xfrm>
            <a:off x="6858000" y="5212080"/>
            <a:ext cx="1417320" cy="621792"/>
          </a:xfrm>
          <a:prstGeom prst="rect">
            <a:avLst/>
          </a:prstGeom>
          <a:solidFill>
            <a:srgbClr val="F5F1FB"/>
          </a:solidFill>
          <a:ln>
            <a:noFill/>
          </a:ln>
        </p:spPr>
        <p:txBody>
          <a:bodyPr wrap="square" lIns="45720" tIns="27432" rIns="45720" bIns="27432" rtlCol="0" anchor="ctr">
            <a:noAutofit/>
          </a:bodyPr>
          <a:lstStyle/>
          <a:p>
            <a:pPr marL="0" indent="0" algn="ctr">
              <a:spcBef>
                <a:spcPts val="0"/>
              </a:spcBef>
              <a:spcAft>
                <a:spcPts val="0"/>
              </a:spcAft>
              <a:buNone/>
            </a:pPr>
            <a:r>
              <a:rPr lang="en-US" sz="1500" b="1" dirty="0">
                <a:solidFill>
                  <a:srgbClr val="14142B"/>
                </a:solidFill>
                <a:latin typeface="Calibri"/>
                <a:cs typeface="Calibri"/>
              </a:rPr>
              <a:t>Fallback</a:t>
            </a:r>
          </a:p>
        </p:txBody>
      </p:sp>
      <p:sp>
        <p:nvSpPr>
          <p:cNvPr id="190" name="Shape 190"/>
          <p:cNvSpPr/>
          <p:nvPr/>
        </p:nvSpPr>
        <p:spPr>
          <a:xfrm>
            <a:off x="8275320" y="5212080"/>
            <a:ext cx="1417320" cy="621792"/>
          </a:xfrm>
          <a:prstGeom prst="rect">
            <a:avLst/>
          </a:prstGeom>
          <a:solidFill>
            <a:srgbClr val="F5F1FB"/>
          </a:solidFill>
          <a:ln>
            <a:noFill/>
          </a:ln>
        </p:spPr>
        <p:txBody>
          <a:bodyPr wrap="square" lIns="45720" tIns="27432" rIns="45720" bIns="27432" rtlCol="0" anchor="ctr">
            <a:noAutofit/>
          </a:bodyPr>
          <a:lstStyle/>
          <a:p>
            <a:pPr marL="0" indent="0" algn="ctr">
              <a:spcBef>
                <a:spcPts val="0"/>
              </a:spcBef>
              <a:spcAft>
                <a:spcPts val="0"/>
              </a:spcAft>
              <a:buNone/>
            </a:pPr>
            <a:r>
              <a:rPr lang="en-US" sz="1500" b="0" dirty="0">
                <a:solidFill>
                  <a:srgbClr val="14142B"/>
                </a:solidFill>
                <a:latin typeface="Calibri"/>
                <a:cs typeface="Calibri"/>
              </a:rPr>
              <a:t>Often none</a:t>
            </a:r>
          </a:p>
        </p:txBody>
      </p:sp>
      <p:sp>
        <p:nvSpPr>
          <p:cNvPr id="191" name="Shape 191"/>
          <p:cNvSpPr/>
          <p:nvPr/>
        </p:nvSpPr>
        <p:spPr>
          <a:xfrm>
            <a:off x="9692640" y="5212080"/>
            <a:ext cx="1764792" cy="621792"/>
          </a:xfrm>
          <a:prstGeom prst="rect">
            <a:avLst/>
          </a:prstGeom>
          <a:solidFill>
            <a:srgbClr val="E9E1F8"/>
          </a:solidFill>
          <a:ln>
            <a:noFill/>
          </a:ln>
        </p:spPr>
        <p:txBody>
          <a:bodyPr wrap="square" lIns="45720" tIns="27432" rIns="45720" bIns="27432" rtlCol="0" anchor="ctr">
            <a:noAutofit/>
          </a:bodyPr>
          <a:lstStyle/>
          <a:p>
            <a:pPr marL="0" indent="0" algn="ctr">
              <a:spcBef>
                <a:spcPts val="0"/>
              </a:spcBef>
              <a:spcAft>
                <a:spcPts val="0"/>
              </a:spcAft>
              <a:buNone/>
            </a:pPr>
            <a:r>
              <a:rPr lang="en-US" sz="1500" b="1" dirty="0">
                <a:solidFill>
                  <a:srgbClr val="6D28D9"/>
                </a:solidFill>
                <a:latin typeface="Calibri"/>
                <a:cs typeface="Calibri"/>
              </a:rPr>
              <a:t>Store + email</a:t>
            </a:r>
          </a:p>
        </p:txBody>
      </p:sp>
    </p:spTree>
    <p:extLst>
      <p:ext uri="{BB962C8B-B14F-4D97-AF65-F5344CB8AC3E}">
        <p14:creationId xmlns:p14="http://schemas.microsoft.com/office/powerpoint/2010/main" val="2095517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E28A-8ABF-4E15-B9E1-B0F49C0EE29F}"/>
              </a:ext>
            </a:extLst>
          </p:cNvPr>
          <p:cNvSpPr>
            <a:spLocks noGrp="1"/>
          </p:cNvSpPr>
          <p:nvPr>
            <p:ph type="title"/>
          </p:nvPr>
        </p:nvSpPr>
        <p:spPr/>
        <p:txBody>
          <a:bodyPr/>
          <a:lstStyle/>
          <a:p>
            <a:r>
              <a:rPr lang="en-IN" b="1" dirty="0">
                <a:solidFill>
                  <a:srgbClr val="704EA6"/>
                </a:solidFill>
                <a:latin typeface="+mn-lt"/>
              </a:rPr>
              <a:t>Checklist- Updated on Public GitHub</a:t>
            </a:r>
          </a:p>
        </p:txBody>
      </p:sp>
      <p:sp>
        <p:nvSpPr>
          <p:cNvPr id="3" name="Content Placeholder 2">
            <a:extLst>
              <a:ext uri="{FF2B5EF4-FFF2-40B4-BE49-F238E27FC236}">
                <a16:creationId xmlns:a16="http://schemas.microsoft.com/office/drawing/2014/main" id="{DAB3E6F6-9D00-4480-90E6-EC3C876F2628}"/>
              </a:ext>
            </a:extLst>
          </p:cNvPr>
          <p:cNvSpPr>
            <a:spLocks noGrp="1"/>
          </p:cNvSpPr>
          <p:nvPr>
            <p:ph idx="1"/>
          </p:nvPr>
        </p:nvSpPr>
        <p:spPr/>
        <p:txBody>
          <a:bodyPr/>
          <a:lstStyle/>
          <a:p>
            <a:pPr marL="177800" indent="-177800">
              <a:spcAft>
                <a:spcPts val="500"/>
              </a:spcAft>
              <a:buSzPct val="100000"/>
              <a:buChar char="•"/>
            </a:pPr>
            <a:r>
              <a:rPr lang="en-US" sz="2800" dirty="0">
                <a:solidFill>
                  <a:srgbClr val="63637E"/>
                </a:solidFill>
                <a:latin typeface="Calibri" pitchFamily="34" charset="0"/>
                <a:ea typeface="Calibri" pitchFamily="34" charset="-122"/>
                <a:cs typeface="Calibri" pitchFamily="34" charset="-120"/>
              </a:rPr>
              <a:t>Working prototype code — public or shared GitHub repo (Y) ✓</a:t>
            </a:r>
            <a:endParaRPr lang="en-US" sz="2800" dirty="0"/>
          </a:p>
          <a:p>
            <a:pPr marL="177800" indent="-177800">
              <a:spcAft>
                <a:spcPts val="500"/>
              </a:spcAft>
              <a:buSzPct val="100000"/>
              <a:buChar char="•"/>
            </a:pPr>
            <a:r>
              <a:rPr lang="en-US" sz="2800" dirty="0">
                <a:solidFill>
                  <a:srgbClr val="63637E"/>
                </a:solidFill>
                <a:latin typeface="Calibri" pitchFamily="34" charset="0"/>
                <a:ea typeface="Calibri" pitchFamily="34" charset="-122"/>
                <a:cs typeface="Calibri" pitchFamily="34" charset="-120"/>
              </a:rPr>
              <a:t>README with reproducible setup instructions (Y) ✓</a:t>
            </a:r>
            <a:endParaRPr lang="en-US" sz="2800" dirty="0"/>
          </a:p>
          <a:p>
            <a:pPr marL="177800" indent="-177800">
              <a:spcAft>
                <a:spcPts val="500"/>
              </a:spcAft>
              <a:buSzPct val="100000"/>
              <a:buChar char="•"/>
            </a:pPr>
            <a:r>
              <a:rPr lang="en-US" sz="2800" dirty="0">
                <a:solidFill>
                  <a:srgbClr val="63637E"/>
                </a:solidFill>
                <a:latin typeface="Calibri" pitchFamily="34" charset="0"/>
                <a:ea typeface="Calibri" pitchFamily="34" charset="-122"/>
                <a:cs typeface="Calibri" pitchFamily="34" charset="-120"/>
              </a:rPr>
              <a:t>Demo video, max 5 minutes (YouTube or Drive link) ✓</a:t>
            </a:r>
            <a:endParaRPr lang="en-US" sz="2800" dirty="0"/>
          </a:p>
          <a:p>
            <a:pPr marL="177800" indent="-177800">
              <a:spcAft>
                <a:spcPts val="500"/>
              </a:spcAft>
              <a:buSzPct val="100000"/>
              <a:buChar char="•"/>
            </a:pPr>
            <a:r>
              <a:rPr lang="en-US" sz="2800" dirty="0">
                <a:solidFill>
                  <a:srgbClr val="63637E"/>
                </a:solidFill>
                <a:latin typeface="Calibri" pitchFamily="34" charset="0"/>
                <a:ea typeface="Calibri" pitchFamily="34" charset="-122"/>
                <a:cs typeface="Calibri" pitchFamily="34" charset="-120"/>
              </a:rPr>
              <a:t>Presentation file (PPT or PDF) (Y) ✓</a:t>
            </a:r>
            <a:endParaRPr lang="en-US" sz="2800" dirty="0"/>
          </a:p>
          <a:p>
            <a:pPr marL="0" indent="0">
              <a:buNone/>
            </a:pPr>
            <a:endParaRPr lang="en-IN" dirty="0"/>
          </a:p>
        </p:txBody>
      </p:sp>
    </p:spTree>
    <p:extLst>
      <p:ext uri="{BB962C8B-B14F-4D97-AF65-F5344CB8AC3E}">
        <p14:creationId xmlns:p14="http://schemas.microsoft.com/office/powerpoint/2010/main" val="18069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46181" y="3730214"/>
            <a:ext cx="6766560" cy="868680"/>
          </a:xfrm>
          <a:prstGeom prst="rect">
            <a:avLst/>
          </a:prstGeom>
          <a:noFill/>
          <a:ln/>
        </p:spPr>
        <p:txBody>
          <a:bodyPr wrap="square" lIns="0" tIns="0" rIns="0" bIns="0" rtlCol="0" anchor="ctr"/>
          <a:lstStyle/>
          <a:p>
            <a:pPr marL="0" indent="0">
              <a:buNone/>
            </a:pPr>
            <a:r>
              <a:rPr lang="en-US" sz="4600" b="1" dirty="0">
                <a:solidFill>
                  <a:srgbClr val="14142B"/>
                </a:solidFill>
                <a:latin typeface="Arial" pitchFamily="34" charset="0"/>
                <a:ea typeface="Arial" pitchFamily="34" charset="-122"/>
                <a:cs typeface="Arial" pitchFamily="34" charset="-120"/>
              </a:rPr>
              <a:t>Thank you</a:t>
            </a:r>
            <a:endParaRPr lang="en-US" sz="4600" dirty="0"/>
          </a:p>
        </p:txBody>
      </p:sp>
      <p:sp>
        <p:nvSpPr>
          <p:cNvPr id="28" name="Text 25"/>
          <p:cNvSpPr txBox="1"/>
          <p:nvPr/>
        </p:nvSpPr>
        <p:spPr>
          <a:xfrm>
            <a:off x="777240" y="5897880"/>
            <a:ext cx="10607040" cy="292608"/>
          </a:xfrm>
          <a:prstGeom prst="rect">
            <a:avLst/>
          </a:prstGeom>
          <a:noFill/>
          <a:ln/>
        </p:spPr>
        <p:txBody>
          <a:bodyPr wrap="square" lIns="0" tIns="0" rIns="0" bIns="0" rtlCol="0" anchor="ctr"/>
          <a:lstStyle/>
          <a:p>
            <a:pPr marL="0" indent="0">
              <a:buNone/>
            </a:pPr>
            <a:r>
              <a:rPr lang="en-US" sz="1100" dirty="0">
                <a:solidFill>
                  <a:srgbClr val="63637E"/>
                </a:solidFill>
                <a:latin typeface="Calibri" pitchFamily="34" charset="0"/>
                <a:ea typeface="Calibri" pitchFamily="34" charset="-122"/>
                <a:cs typeface="Calibri" pitchFamily="34" charset="-120"/>
              </a:rPr>
              <a:t>Organised by the Language AI Team and the PRISM Team, Samsung R&amp;D Institute India</a:t>
            </a:r>
            <a:endParaRPr lang="en-US" sz="1100" dirty="0"/>
          </a:p>
        </p:txBody>
      </p:sp>
      <p:sp>
        <p:nvSpPr>
          <p:cNvPr id="192" name="Shape 192"/>
          <p:cNvSpPr txBox="1"/>
          <p:nvPr/>
        </p:nvSpPr>
        <p:spPr>
          <a:xfrm>
            <a:off x="1046074" y="4709160"/>
            <a:ext cx="8229600" cy="457200"/>
          </a:xfrm>
          <a:prstGeom prst="roundRect">
            <a:avLst>
              <a:gd name="adj" fmla="val 6000"/>
            </a:avLst>
          </a:prstGeom>
          <a:noFill/>
          <a:ln>
            <a:noFill/>
          </a:ln>
        </p:spPr>
        <p:txBody>
          <a:bodyPr wrap="square" lIns="0" tIns="0" rIns="0" bIns="0" rtlCol="0" anchor="ctr">
            <a:noAutofit/>
          </a:bodyPr>
          <a:lstStyle/>
          <a:p>
            <a:pPr marL="0" indent="0" algn="l">
              <a:spcBef>
                <a:spcPts val="0"/>
              </a:spcBef>
              <a:spcAft>
                <a:spcPts val="0"/>
              </a:spcAft>
              <a:buNone/>
            </a:pPr>
            <a:r>
              <a:rPr lang="en-US" sz="2000" b="1" dirty="0">
                <a:solidFill>
                  <a:srgbClr val="6D28D9"/>
                </a:solidFill>
                <a:latin typeface="Arial"/>
                <a:cs typeface="Arial"/>
              </a:rPr>
              <a:t>Team Syntax Error</a:t>
            </a:r>
            <a:r>
              <a:rPr lang="en-US" sz="1600" b="0" dirty="0">
                <a:solidFill>
                  <a:srgbClr val="63637E"/>
                </a:solidFill>
                <a:latin typeface="Calibri"/>
                <a:cs typeface="Calibri"/>
              </a:rPr>
              <a:t>   ·   Theme 2   ·   &lt;42 ms. Type-safe. Zero-token.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65</TotalTime>
  <Words>266</Words>
  <Application>Microsoft Office PowerPoint</Application>
  <PresentationFormat>Widescreen</PresentationFormat>
  <Paragraphs>32</Paragraphs>
  <Slides>12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Theme</vt:lpstr>
      <vt:lpstr>Existing Solutions &amp; Gaps</vt:lpstr>
      <vt:lpstr>Our Solutions &amp; Architecture Diagram</vt:lpstr>
      <vt:lpstr>Demo &amp; Product Walkthrough</vt:lpstr>
      <vt:lpstr>Tools and tech stack used</vt:lpstr>
      <vt:lpstr>Impact &amp; Use case</vt:lpstr>
      <vt:lpstr>Innovation highlights, results and limitations</vt:lpstr>
      <vt:lpstr>What’s next</vt:lpstr>
      <vt:lpstr>Brownie points slide( differentiation)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Binny Lakra/PRISM /SRI-Bangalore/Professional/Samsung Electronics</dc:creator>
  <cp:lastModifiedBy>Binny Lakra/PRISM /SRI-Bangalore/Professional/Samsung Electronics</cp:lastModifiedBy>
  <cp:revision>6</cp:revision>
  <dcterms:created xsi:type="dcterms:W3CDTF">2026-09-07T12:01:01Z</dcterms:created>
  <dcterms:modified xsi:type="dcterms:W3CDTF">2026-09-08T10:03:30Z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